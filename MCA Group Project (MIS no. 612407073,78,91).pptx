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T Hoves" charset="1" panose="02000003020000060003"/>
      <p:regular r:id="rId17"/>
    </p:embeddedFont>
    <p:embeddedFont>
      <p:font typeface="TT Hoves Bold" charset="1" panose="020000030200000600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0107576" y="-2295434"/>
            <a:ext cx="11221859" cy="11221859"/>
          </a:xfrm>
          <a:custGeom>
            <a:avLst/>
            <a:gdLst/>
            <a:ahLst/>
            <a:cxnLst/>
            <a:rect r="r" b="b" t="t" l="l"/>
            <a:pathLst>
              <a:path h="11221859" w="11221859">
                <a:moveTo>
                  <a:pt x="0" y="0"/>
                </a:moveTo>
                <a:lnTo>
                  <a:pt x="11221858" y="0"/>
                </a:lnTo>
                <a:lnTo>
                  <a:pt x="11221858" y="11221859"/>
                </a:lnTo>
                <a:lnTo>
                  <a:pt x="0" y="1122185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450527"/>
            <a:ext cx="19680517" cy="1704491"/>
            <a:chOff x="0" y="0"/>
            <a:chExt cx="5183346" cy="448919"/>
          </a:xfrm>
        </p:grpSpPr>
        <p:sp>
          <p:nvSpPr>
            <p:cNvPr name="Freeform 4" id="4"/>
            <p:cNvSpPr/>
            <p:nvPr/>
          </p:nvSpPr>
          <p:spPr>
            <a:xfrm flipH="false" flipV="false" rot="0">
              <a:off x="0" y="0"/>
              <a:ext cx="5183346" cy="448919"/>
            </a:xfrm>
            <a:custGeom>
              <a:avLst/>
              <a:gdLst/>
              <a:ahLst/>
              <a:cxnLst/>
              <a:rect r="r" b="b" t="t" l="l"/>
              <a:pathLst>
                <a:path h="448919" w="5183346">
                  <a:moveTo>
                    <a:pt x="0" y="0"/>
                  </a:moveTo>
                  <a:lnTo>
                    <a:pt x="5183346" y="0"/>
                  </a:lnTo>
                  <a:lnTo>
                    <a:pt x="5183346" y="448919"/>
                  </a:lnTo>
                  <a:lnTo>
                    <a:pt x="0" y="448919"/>
                  </a:lnTo>
                  <a:close/>
                </a:path>
              </a:pathLst>
            </a:custGeom>
            <a:solidFill>
              <a:srgbClr val="0003FF"/>
            </a:solidFill>
          </p:spPr>
        </p:sp>
        <p:sp>
          <p:nvSpPr>
            <p:cNvPr name="TextBox 5" id="5"/>
            <p:cNvSpPr txBox="true"/>
            <p:nvPr/>
          </p:nvSpPr>
          <p:spPr>
            <a:xfrm>
              <a:off x="0" y="-57150"/>
              <a:ext cx="5183346" cy="506069"/>
            </a:xfrm>
            <a:prstGeom prst="rect">
              <a:avLst/>
            </a:prstGeom>
          </p:spPr>
          <p:txBody>
            <a:bodyPr anchor="ctr" rtlCol="false" tIns="50800" lIns="50800" bIns="50800" rIns="50800"/>
            <a:lstStyle/>
            <a:p>
              <a:pPr algn="ctr">
                <a:lnSpc>
                  <a:spcPts val="3639"/>
                </a:lnSpc>
              </a:pPr>
            </a:p>
          </p:txBody>
        </p:sp>
      </p:grpSp>
      <p:sp>
        <p:nvSpPr>
          <p:cNvPr name="TextBox 6" id="6"/>
          <p:cNvSpPr txBox="true"/>
          <p:nvPr/>
        </p:nvSpPr>
        <p:spPr>
          <a:xfrm rot="0">
            <a:off x="7585339" y="344568"/>
            <a:ext cx="3117321" cy="448311"/>
          </a:xfrm>
          <a:prstGeom prst="rect">
            <a:avLst/>
          </a:prstGeom>
        </p:spPr>
        <p:txBody>
          <a:bodyPr anchor="t" rtlCol="false" tIns="0" lIns="0" bIns="0" rIns="0">
            <a:spAutoFit/>
          </a:bodyPr>
          <a:lstStyle/>
          <a:p>
            <a:pPr algn="ctr">
              <a:lnSpc>
                <a:spcPts val="3639"/>
              </a:lnSpc>
              <a:spcBef>
                <a:spcPct val="0"/>
              </a:spcBef>
            </a:pPr>
            <a:r>
              <a:rPr lang="en-US" sz="2599">
                <a:solidFill>
                  <a:srgbClr val="EFEFEF"/>
                </a:solidFill>
                <a:latin typeface="TT Hoves"/>
                <a:ea typeface="TT Hoves"/>
                <a:cs typeface="TT Hoves"/>
                <a:sym typeface="TT Hoves"/>
              </a:rPr>
              <a:t>MCA Project</a:t>
            </a:r>
          </a:p>
        </p:txBody>
      </p:sp>
      <p:sp>
        <p:nvSpPr>
          <p:cNvPr name="TextBox 7" id="7"/>
          <p:cNvSpPr txBox="true"/>
          <p:nvPr/>
        </p:nvSpPr>
        <p:spPr>
          <a:xfrm rot="0">
            <a:off x="1028700" y="2121046"/>
            <a:ext cx="10910396" cy="5316171"/>
          </a:xfrm>
          <a:prstGeom prst="rect">
            <a:avLst/>
          </a:prstGeom>
        </p:spPr>
        <p:txBody>
          <a:bodyPr anchor="t" rtlCol="false" tIns="0" lIns="0" bIns="0" rIns="0">
            <a:spAutoFit/>
          </a:bodyPr>
          <a:lstStyle/>
          <a:p>
            <a:pPr algn="l">
              <a:lnSpc>
                <a:spcPts val="10338"/>
              </a:lnSpc>
            </a:pPr>
            <a:r>
              <a:rPr lang="en-US" b="true" sz="10998" spc="-538">
                <a:solidFill>
                  <a:srgbClr val="343434"/>
                </a:solidFill>
                <a:latin typeface="TT Hoves Bold"/>
                <a:ea typeface="TT Hoves Bold"/>
                <a:cs typeface="TT Hoves Bold"/>
                <a:sym typeface="TT Hoves Bold"/>
              </a:rPr>
              <a:t>Hand Gesture Recognition using ESP32 and Python</a:t>
            </a:r>
          </a:p>
        </p:txBody>
      </p:sp>
      <p:sp>
        <p:nvSpPr>
          <p:cNvPr name="TextBox 8" id="8"/>
          <p:cNvSpPr txBox="true"/>
          <p:nvPr/>
        </p:nvSpPr>
        <p:spPr>
          <a:xfrm rot="0">
            <a:off x="1028700" y="8123325"/>
            <a:ext cx="8459795" cy="1682926"/>
          </a:xfrm>
          <a:prstGeom prst="rect">
            <a:avLst/>
          </a:prstGeom>
        </p:spPr>
        <p:txBody>
          <a:bodyPr anchor="t" rtlCol="false" tIns="0" lIns="0" bIns="0" rIns="0">
            <a:spAutoFit/>
          </a:bodyPr>
          <a:lstStyle/>
          <a:p>
            <a:pPr algn="l">
              <a:lnSpc>
                <a:spcPts val="4381"/>
              </a:lnSpc>
            </a:pPr>
            <a:r>
              <a:rPr lang="en-US" sz="4381" spc="-87">
                <a:solidFill>
                  <a:srgbClr val="343434"/>
                </a:solidFill>
                <a:latin typeface="TT Hoves"/>
                <a:ea typeface="TT Hoves"/>
                <a:cs typeface="TT Hoves"/>
                <a:sym typeface="TT Hoves"/>
              </a:rPr>
              <a:t>Harsh Jangid- 612407073</a:t>
            </a:r>
          </a:p>
          <a:p>
            <a:pPr algn="l">
              <a:lnSpc>
                <a:spcPts val="4381"/>
              </a:lnSpc>
            </a:pPr>
            <a:r>
              <a:rPr lang="en-US" sz="4381" spc="-87">
                <a:solidFill>
                  <a:srgbClr val="343434"/>
                </a:solidFill>
                <a:latin typeface="TT Hoves"/>
                <a:ea typeface="TT Hoves"/>
                <a:cs typeface="TT Hoves"/>
                <a:sym typeface="TT Hoves"/>
              </a:rPr>
              <a:t>Siddhi Kamble- 612407078</a:t>
            </a:r>
          </a:p>
          <a:p>
            <a:pPr algn="l">
              <a:lnSpc>
                <a:spcPts val="4381"/>
              </a:lnSpc>
            </a:pPr>
            <a:r>
              <a:rPr lang="en-US" sz="4381" spc="-87">
                <a:solidFill>
                  <a:srgbClr val="343434"/>
                </a:solidFill>
                <a:latin typeface="TT Hoves"/>
                <a:ea typeface="TT Hoves"/>
                <a:cs typeface="TT Hoves"/>
                <a:sym typeface="TT Hoves"/>
              </a:rPr>
              <a:t>Tanvi Kshirsagar- 612407091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8126267" y="4697897"/>
            <a:ext cx="9583795" cy="3249114"/>
          </a:xfrm>
          <a:prstGeom prst="rect">
            <a:avLst/>
          </a:prstGeom>
        </p:spPr>
        <p:txBody>
          <a:bodyPr anchor="t" rtlCol="false" tIns="0" lIns="0" bIns="0" rIns="0">
            <a:spAutoFit/>
          </a:bodyPr>
          <a:lstStyle/>
          <a:p>
            <a:pPr algn="just" marL="591480" indent="-295740" lvl="1">
              <a:lnSpc>
                <a:spcPts val="3698"/>
              </a:lnSpc>
              <a:spcBef>
                <a:spcPct val="0"/>
              </a:spcBef>
              <a:buFont typeface="Arial"/>
              <a:buChar char="•"/>
            </a:pPr>
            <a:r>
              <a:rPr lang="en-US" sz="2739" spc="164">
                <a:solidFill>
                  <a:srgbClr val="343434"/>
                </a:solidFill>
                <a:latin typeface="TT Hoves"/>
                <a:ea typeface="TT Hoves"/>
                <a:cs typeface="TT Hoves"/>
                <a:sym typeface="TT Hoves"/>
              </a:rPr>
              <a:t>R</a:t>
            </a:r>
            <a:r>
              <a:rPr lang="en-US" sz="2739" spc="164" u="none">
                <a:solidFill>
                  <a:srgbClr val="343434"/>
                </a:solidFill>
                <a:latin typeface="TT Hoves"/>
                <a:ea typeface="TT Hoves"/>
                <a:cs typeface="TT Hoves"/>
                <a:sym typeface="TT Hoves"/>
              </a:rPr>
              <a:t>eal-time gesture-based control system</a:t>
            </a:r>
          </a:p>
          <a:p>
            <a:pPr algn="just" marL="591480" indent="-295740" lvl="1">
              <a:lnSpc>
                <a:spcPts val="3698"/>
              </a:lnSpc>
              <a:spcBef>
                <a:spcPct val="0"/>
              </a:spcBef>
              <a:buFont typeface="Arial"/>
              <a:buChar char="•"/>
            </a:pPr>
            <a:r>
              <a:rPr lang="en-US" sz="2739" spc="164" u="none">
                <a:solidFill>
                  <a:srgbClr val="343434"/>
                </a:solidFill>
                <a:latin typeface="TT Hoves"/>
                <a:ea typeface="TT Hoves"/>
                <a:cs typeface="TT Hoves"/>
                <a:sym typeface="TT Hoves"/>
              </a:rPr>
              <a:t>Uses OpenCV for image processing</a:t>
            </a:r>
          </a:p>
          <a:p>
            <a:pPr algn="just" marL="591480" indent="-295740" lvl="1">
              <a:lnSpc>
                <a:spcPts val="3698"/>
              </a:lnSpc>
              <a:spcBef>
                <a:spcPct val="0"/>
              </a:spcBef>
              <a:buFont typeface="Arial"/>
              <a:buChar char="•"/>
            </a:pPr>
            <a:r>
              <a:rPr lang="en-US" sz="2739" spc="164" u="none">
                <a:solidFill>
                  <a:srgbClr val="343434"/>
                </a:solidFill>
                <a:latin typeface="TT Hoves"/>
                <a:ea typeface="TT Hoves"/>
                <a:cs typeface="TT Hoves"/>
                <a:sym typeface="TT Hoves"/>
              </a:rPr>
              <a:t>Uses MediaPipe for hand tracking</a:t>
            </a:r>
          </a:p>
          <a:p>
            <a:pPr algn="just" marL="591480" indent="-295740" lvl="1">
              <a:lnSpc>
                <a:spcPts val="3698"/>
              </a:lnSpc>
              <a:spcBef>
                <a:spcPct val="0"/>
              </a:spcBef>
              <a:buFont typeface="Arial"/>
              <a:buChar char="•"/>
            </a:pPr>
            <a:r>
              <a:rPr lang="en-US" sz="2739" spc="164" u="none">
                <a:solidFill>
                  <a:srgbClr val="343434"/>
                </a:solidFill>
                <a:latin typeface="TT Hoves"/>
                <a:ea typeface="TT Hoves"/>
                <a:cs typeface="TT Hoves"/>
                <a:sym typeface="TT Hoves"/>
              </a:rPr>
              <a:t>Detects finger positions</a:t>
            </a:r>
          </a:p>
          <a:p>
            <a:pPr algn="just" marL="591480" indent="-295740" lvl="1">
              <a:lnSpc>
                <a:spcPts val="3698"/>
              </a:lnSpc>
              <a:spcBef>
                <a:spcPct val="0"/>
              </a:spcBef>
              <a:buFont typeface="Arial"/>
              <a:buChar char="•"/>
            </a:pPr>
            <a:r>
              <a:rPr lang="en-US" sz="2739" spc="164" u="none">
                <a:solidFill>
                  <a:srgbClr val="343434"/>
                </a:solidFill>
                <a:latin typeface="TT Hoves"/>
                <a:ea typeface="TT Hoves"/>
                <a:cs typeface="TT Hoves"/>
                <a:sym typeface="TT Hoves"/>
              </a:rPr>
              <a:t>Sends commands via Wi-Fi</a:t>
            </a:r>
          </a:p>
          <a:p>
            <a:pPr algn="just" marL="591480" indent="-295740" lvl="1">
              <a:lnSpc>
                <a:spcPts val="3698"/>
              </a:lnSpc>
              <a:spcBef>
                <a:spcPct val="0"/>
              </a:spcBef>
              <a:buFont typeface="Arial"/>
              <a:buChar char="•"/>
            </a:pPr>
            <a:r>
              <a:rPr lang="en-US" sz="2739" spc="164" u="none">
                <a:solidFill>
                  <a:srgbClr val="343434"/>
                </a:solidFill>
                <a:latin typeface="TT Hoves"/>
                <a:ea typeface="TT Hoves"/>
                <a:cs typeface="TT Hoves"/>
                <a:sym typeface="TT Hoves"/>
              </a:rPr>
              <a:t>ESP32 controls LEDs</a:t>
            </a:r>
          </a:p>
          <a:p>
            <a:pPr algn="just" marL="0" indent="0" lvl="0">
              <a:lnSpc>
                <a:spcPts val="3698"/>
              </a:lnSpc>
              <a:spcBef>
                <a:spcPct val="0"/>
              </a:spcBef>
            </a:pPr>
          </a:p>
        </p:txBody>
      </p:sp>
      <p:grpSp>
        <p:nvGrpSpPr>
          <p:cNvPr name="Group 3" id="3"/>
          <p:cNvGrpSpPr/>
          <p:nvPr/>
        </p:nvGrpSpPr>
        <p:grpSpPr>
          <a:xfrm rot="0">
            <a:off x="-696258" y="-976142"/>
            <a:ext cx="7178388" cy="11878896"/>
            <a:chOff x="0" y="0"/>
            <a:chExt cx="1890604" cy="3128598"/>
          </a:xfrm>
        </p:grpSpPr>
        <p:sp>
          <p:nvSpPr>
            <p:cNvPr name="Freeform 4" id="4"/>
            <p:cNvSpPr/>
            <p:nvPr/>
          </p:nvSpPr>
          <p:spPr>
            <a:xfrm flipH="false" flipV="false" rot="0">
              <a:off x="0" y="0"/>
              <a:ext cx="1890604" cy="3128598"/>
            </a:xfrm>
            <a:custGeom>
              <a:avLst/>
              <a:gdLst/>
              <a:ahLst/>
              <a:cxnLst/>
              <a:rect r="r" b="b" t="t" l="l"/>
              <a:pathLst>
                <a:path h="3128598" w="1890604">
                  <a:moveTo>
                    <a:pt x="0" y="0"/>
                  </a:moveTo>
                  <a:lnTo>
                    <a:pt x="1890604" y="0"/>
                  </a:lnTo>
                  <a:lnTo>
                    <a:pt x="1890604" y="3128598"/>
                  </a:lnTo>
                  <a:lnTo>
                    <a:pt x="0" y="3128598"/>
                  </a:lnTo>
                  <a:close/>
                </a:path>
              </a:pathLst>
            </a:custGeom>
            <a:solidFill>
              <a:srgbClr val="0003FF"/>
            </a:solidFill>
          </p:spPr>
        </p:sp>
        <p:sp>
          <p:nvSpPr>
            <p:cNvPr name="TextBox 5" id="5"/>
            <p:cNvSpPr txBox="true"/>
            <p:nvPr/>
          </p:nvSpPr>
          <p:spPr>
            <a:xfrm>
              <a:off x="0" y="-57150"/>
              <a:ext cx="1890604" cy="318574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3263798" y="-4131629"/>
            <a:ext cx="7991003" cy="7991003"/>
          </a:xfrm>
          <a:custGeom>
            <a:avLst/>
            <a:gdLst/>
            <a:ahLst/>
            <a:cxnLst/>
            <a:rect r="r" b="b" t="t" l="l"/>
            <a:pathLst>
              <a:path h="7991003" w="7991003">
                <a:moveTo>
                  <a:pt x="0" y="0"/>
                </a:moveTo>
                <a:lnTo>
                  <a:pt x="7991004" y="0"/>
                </a:lnTo>
                <a:lnTo>
                  <a:pt x="7991004" y="7991003"/>
                </a:lnTo>
                <a:lnTo>
                  <a:pt x="0" y="7991003"/>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8126267" y="2142827"/>
            <a:ext cx="9760574" cy="1574959"/>
          </a:xfrm>
          <a:prstGeom prst="rect">
            <a:avLst/>
          </a:prstGeom>
        </p:spPr>
        <p:txBody>
          <a:bodyPr anchor="t" rtlCol="false" tIns="0" lIns="0" bIns="0" rIns="0">
            <a:spAutoFit/>
          </a:bodyPr>
          <a:lstStyle/>
          <a:p>
            <a:pPr algn="l">
              <a:lnSpc>
                <a:spcPts val="11645"/>
              </a:lnSpc>
            </a:pPr>
            <a:r>
              <a:rPr lang="en-US" b="true" sz="12388" spc="-607">
                <a:solidFill>
                  <a:srgbClr val="343434"/>
                </a:solidFill>
                <a:latin typeface="TT Hoves Bold"/>
                <a:ea typeface="TT Hoves Bold"/>
                <a:cs typeface="TT Hoves Bold"/>
                <a:sym typeface="TT Hoves Bold"/>
              </a:rPr>
              <a:t>Abstract</a:t>
            </a:r>
          </a:p>
        </p:txBody>
      </p:sp>
      <p:sp>
        <p:nvSpPr>
          <p:cNvPr name="TextBox 8" id="8"/>
          <p:cNvSpPr txBox="true"/>
          <p:nvPr/>
        </p:nvSpPr>
        <p:spPr>
          <a:xfrm rot="0">
            <a:off x="-1725735" y="6821207"/>
            <a:ext cx="5508869" cy="4832876"/>
          </a:xfrm>
          <a:prstGeom prst="rect">
            <a:avLst/>
          </a:prstGeom>
        </p:spPr>
        <p:txBody>
          <a:bodyPr anchor="t" rtlCol="false" tIns="0" lIns="0" bIns="0" rIns="0">
            <a:spAutoFit/>
          </a:bodyPr>
          <a:lstStyle/>
          <a:p>
            <a:pPr algn="ctr">
              <a:lnSpc>
                <a:spcPts val="35614"/>
              </a:lnSpc>
            </a:pPr>
            <a:r>
              <a:rPr lang="en-US" b="true" sz="37888" spc="-1856">
                <a:solidFill>
                  <a:srgbClr val="EFEFEF"/>
                </a:solidFill>
                <a:latin typeface="TT Hoves Bold"/>
                <a:ea typeface="TT Hoves Bold"/>
                <a:cs typeface="TT Hoves Bold"/>
                <a:sym typeface="TT Hoves Bold"/>
              </a:rPr>
              <a:t>01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805628" y="-3991568"/>
            <a:ext cx="9598990" cy="9598990"/>
          </a:xfrm>
          <a:custGeom>
            <a:avLst/>
            <a:gdLst/>
            <a:ahLst/>
            <a:cxnLst/>
            <a:rect r="r" b="b" t="t" l="l"/>
            <a:pathLst>
              <a:path h="9598990" w="9598990">
                <a:moveTo>
                  <a:pt x="0" y="0"/>
                </a:moveTo>
                <a:lnTo>
                  <a:pt x="9598990" y="0"/>
                </a:lnTo>
                <a:lnTo>
                  <a:pt x="9598990" y="9598990"/>
                </a:lnTo>
                <a:lnTo>
                  <a:pt x="0" y="959899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04950" y="5677942"/>
            <a:ext cx="7639050" cy="3066597"/>
          </a:xfrm>
          <a:prstGeom prst="rect">
            <a:avLst/>
          </a:prstGeom>
        </p:spPr>
        <p:txBody>
          <a:bodyPr anchor="t" rtlCol="false" tIns="0" lIns="0" bIns="0" rIns="0">
            <a:spAutoFit/>
          </a:bodyPr>
          <a:lstStyle/>
          <a:p>
            <a:pPr algn="just" marL="0" indent="0" lvl="0">
              <a:lnSpc>
                <a:spcPts val="4082"/>
              </a:lnSpc>
              <a:spcBef>
                <a:spcPct val="0"/>
              </a:spcBef>
            </a:pPr>
            <a:r>
              <a:rPr lang="en-US" sz="3023" spc="181">
                <a:solidFill>
                  <a:srgbClr val="343434"/>
                </a:solidFill>
                <a:latin typeface="TT Hoves"/>
                <a:ea typeface="TT Hoves"/>
                <a:cs typeface="TT Hoves"/>
                <a:sym typeface="TT Hoves"/>
              </a:rPr>
              <a:t>G</a:t>
            </a:r>
            <a:r>
              <a:rPr lang="en-US" sz="3023" spc="181" u="none">
                <a:solidFill>
                  <a:srgbClr val="343434"/>
                </a:solidFill>
                <a:latin typeface="TT Hoves"/>
                <a:ea typeface="TT Hoves"/>
                <a:cs typeface="TT Hoves"/>
                <a:sym typeface="TT Hoves"/>
              </a:rPr>
              <a:t>esture recognition allows humans to interact with machines without physical contact. In this project, we combine computer vision for detecting gestures and embedded systems for controlling hardware.</a:t>
            </a:r>
          </a:p>
        </p:txBody>
      </p:sp>
      <p:grpSp>
        <p:nvGrpSpPr>
          <p:cNvPr name="Group 4" id="4"/>
          <p:cNvGrpSpPr/>
          <p:nvPr/>
        </p:nvGrpSpPr>
        <p:grpSpPr>
          <a:xfrm rot="0">
            <a:off x="9975489" y="1170261"/>
            <a:ext cx="6998061" cy="2561528"/>
            <a:chOff x="0" y="0"/>
            <a:chExt cx="2342659" cy="857492"/>
          </a:xfrm>
        </p:grpSpPr>
        <p:sp>
          <p:nvSpPr>
            <p:cNvPr name="Freeform 5" id="5"/>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0003FF"/>
            </a:solidFill>
          </p:spPr>
        </p:sp>
        <p:sp>
          <p:nvSpPr>
            <p:cNvPr name="TextBox 6" id="6"/>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sp>
        <p:nvSpPr>
          <p:cNvPr name="TextBox 7" id="7"/>
          <p:cNvSpPr txBox="true"/>
          <p:nvPr/>
        </p:nvSpPr>
        <p:spPr>
          <a:xfrm rot="0">
            <a:off x="10491672" y="2024301"/>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01.</a:t>
            </a:r>
          </a:p>
        </p:txBody>
      </p:sp>
      <p:sp>
        <p:nvSpPr>
          <p:cNvPr name="TextBox 8" id="8"/>
          <p:cNvSpPr txBox="true"/>
          <p:nvPr/>
        </p:nvSpPr>
        <p:spPr>
          <a:xfrm rot="0">
            <a:off x="12601687" y="6540872"/>
            <a:ext cx="7498697" cy="4832876"/>
          </a:xfrm>
          <a:prstGeom prst="rect">
            <a:avLst/>
          </a:prstGeom>
        </p:spPr>
        <p:txBody>
          <a:bodyPr anchor="t" rtlCol="false" tIns="0" lIns="0" bIns="0" rIns="0">
            <a:spAutoFit/>
          </a:bodyPr>
          <a:lstStyle/>
          <a:p>
            <a:pPr algn="ctr">
              <a:lnSpc>
                <a:spcPts val="35614"/>
              </a:lnSpc>
            </a:pPr>
            <a:r>
              <a:rPr lang="en-US" b="true" sz="37888" spc="-1856">
                <a:solidFill>
                  <a:srgbClr val="343434"/>
                </a:solidFill>
                <a:latin typeface="TT Hoves Bold"/>
                <a:ea typeface="TT Hoves Bold"/>
                <a:cs typeface="TT Hoves Bold"/>
                <a:sym typeface="TT Hoves Bold"/>
              </a:rPr>
              <a:t>02</a:t>
            </a:r>
          </a:p>
        </p:txBody>
      </p:sp>
      <p:grpSp>
        <p:nvGrpSpPr>
          <p:cNvPr name="Group 9" id="9"/>
          <p:cNvGrpSpPr/>
          <p:nvPr/>
        </p:nvGrpSpPr>
        <p:grpSpPr>
          <a:xfrm rot="0">
            <a:off x="9975489" y="3862348"/>
            <a:ext cx="6998061" cy="2561528"/>
            <a:chOff x="0" y="0"/>
            <a:chExt cx="2342659" cy="857492"/>
          </a:xfrm>
        </p:grpSpPr>
        <p:sp>
          <p:nvSpPr>
            <p:cNvPr name="Freeform 10" id="10"/>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0003FF"/>
            </a:solidFill>
          </p:spPr>
        </p:sp>
        <p:sp>
          <p:nvSpPr>
            <p:cNvPr name="TextBox 11" id="11"/>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grpSp>
        <p:nvGrpSpPr>
          <p:cNvPr name="Group 12" id="12"/>
          <p:cNvGrpSpPr/>
          <p:nvPr/>
        </p:nvGrpSpPr>
        <p:grpSpPr>
          <a:xfrm rot="0">
            <a:off x="9975489" y="6557226"/>
            <a:ext cx="6998061" cy="2561528"/>
            <a:chOff x="0" y="0"/>
            <a:chExt cx="2342659" cy="857492"/>
          </a:xfrm>
        </p:grpSpPr>
        <p:sp>
          <p:nvSpPr>
            <p:cNvPr name="Freeform 13" id="13"/>
            <p:cNvSpPr/>
            <p:nvPr/>
          </p:nvSpPr>
          <p:spPr>
            <a:xfrm flipH="false" flipV="false" rot="0">
              <a:off x="0" y="0"/>
              <a:ext cx="2342659" cy="857492"/>
            </a:xfrm>
            <a:custGeom>
              <a:avLst/>
              <a:gdLst/>
              <a:ahLst/>
              <a:cxnLst/>
              <a:rect r="r" b="b" t="t" l="l"/>
              <a:pathLst>
                <a:path h="857492" w="2342659">
                  <a:moveTo>
                    <a:pt x="0" y="0"/>
                  </a:moveTo>
                  <a:lnTo>
                    <a:pt x="2342659" y="0"/>
                  </a:lnTo>
                  <a:lnTo>
                    <a:pt x="2342659" y="857492"/>
                  </a:lnTo>
                  <a:lnTo>
                    <a:pt x="0" y="857492"/>
                  </a:lnTo>
                  <a:close/>
                </a:path>
              </a:pathLst>
            </a:custGeom>
            <a:solidFill>
              <a:srgbClr val="0003FF"/>
            </a:solidFill>
          </p:spPr>
        </p:sp>
        <p:sp>
          <p:nvSpPr>
            <p:cNvPr name="TextBox 14" id="14"/>
            <p:cNvSpPr txBox="true"/>
            <p:nvPr/>
          </p:nvSpPr>
          <p:spPr>
            <a:xfrm>
              <a:off x="0" y="104775"/>
              <a:ext cx="2342659" cy="752717"/>
            </a:xfrm>
            <a:prstGeom prst="rect">
              <a:avLst/>
            </a:prstGeom>
          </p:spPr>
          <p:txBody>
            <a:bodyPr anchor="ctr" rtlCol="false" tIns="50800" lIns="50800" bIns="50800" rIns="50800"/>
            <a:lstStyle/>
            <a:p>
              <a:pPr algn="ctr">
                <a:lnSpc>
                  <a:spcPts val="1925"/>
                </a:lnSpc>
              </a:pPr>
            </a:p>
          </p:txBody>
        </p:sp>
      </p:grpSp>
      <p:sp>
        <p:nvSpPr>
          <p:cNvPr name="TextBox 15" id="15"/>
          <p:cNvSpPr txBox="true"/>
          <p:nvPr/>
        </p:nvSpPr>
        <p:spPr>
          <a:xfrm rot="0">
            <a:off x="10491672" y="4717783"/>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02.</a:t>
            </a:r>
          </a:p>
        </p:txBody>
      </p:sp>
      <p:sp>
        <p:nvSpPr>
          <p:cNvPr name="TextBox 16" id="16"/>
          <p:cNvSpPr txBox="true"/>
          <p:nvPr/>
        </p:nvSpPr>
        <p:spPr>
          <a:xfrm rot="0">
            <a:off x="10491672" y="7411266"/>
            <a:ext cx="1578952" cy="1034423"/>
          </a:xfrm>
          <a:prstGeom prst="rect">
            <a:avLst/>
          </a:prstGeom>
        </p:spPr>
        <p:txBody>
          <a:bodyPr anchor="t" rtlCol="false" tIns="0" lIns="0" bIns="0" rIns="0">
            <a:spAutoFit/>
          </a:bodyPr>
          <a:lstStyle/>
          <a:p>
            <a:pPr algn="l">
              <a:lnSpc>
                <a:spcPts val="7680"/>
              </a:lnSpc>
            </a:pPr>
            <a:r>
              <a:rPr lang="en-US" sz="8000" spc="-656">
                <a:solidFill>
                  <a:srgbClr val="EFEFEF"/>
                </a:solidFill>
                <a:latin typeface="TT Hoves"/>
                <a:ea typeface="TT Hoves"/>
                <a:cs typeface="TT Hoves"/>
                <a:sym typeface="TT Hoves"/>
              </a:rPr>
              <a:t>03.</a:t>
            </a:r>
          </a:p>
        </p:txBody>
      </p:sp>
      <p:sp>
        <p:nvSpPr>
          <p:cNvPr name="TextBox 17" id="17"/>
          <p:cNvSpPr txBox="true"/>
          <p:nvPr/>
        </p:nvSpPr>
        <p:spPr>
          <a:xfrm rot="0">
            <a:off x="12218908" y="1883052"/>
            <a:ext cx="4132127" cy="1026796"/>
          </a:xfrm>
          <a:prstGeom prst="rect">
            <a:avLst/>
          </a:prstGeom>
        </p:spPr>
        <p:txBody>
          <a:bodyPr anchor="t" rtlCol="false" tIns="0" lIns="0" bIns="0" rIns="0">
            <a:spAutoFit/>
          </a:bodyPr>
          <a:lstStyle/>
          <a:p>
            <a:pPr algn="just" marL="0" indent="0" lvl="0">
              <a:lnSpc>
                <a:spcPts val="4184"/>
              </a:lnSpc>
              <a:spcBef>
                <a:spcPct val="0"/>
              </a:spcBef>
            </a:pPr>
            <a:r>
              <a:rPr lang="en-US" sz="3099" spc="49">
                <a:solidFill>
                  <a:srgbClr val="EFEFEF"/>
                </a:solidFill>
                <a:latin typeface="TT Hoves"/>
                <a:ea typeface="TT Hoves"/>
                <a:cs typeface="TT Hoves"/>
                <a:sym typeface="TT Hoves"/>
              </a:rPr>
              <a:t>G</a:t>
            </a:r>
            <a:r>
              <a:rPr lang="en-US" sz="3099" spc="49" u="none">
                <a:solidFill>
                  <a:srgbClr val="EFEFEF"/>
                </a:solidFill>
                <a:latin typeface="TT Hoves"/>
                <a:ea typeface="TT Hoves"/>
                <a:cs typeface="TT Hoves"/>
                <a:sym typeface="TT Hoves"/>
              </a:rPr>
              <a:t>esture recognition = contactless interaction</a:t>
            </a:r>
          </a:p>
        </p:txBody>
      </p:sp>
      <p:sp>
        <p:nvSpPr>
          <p:cNvPr name="TextBox 18" id="18"/>
          <p:cNvSpPr txBox="true"/>
          <p:nvPr/>
        </p:nvSpPr>
        <p:spPr>
          <a:xfrm rot="0">
            <a:off x="12218908" y="4116109"/>
            <a:ext cx="4132127" cy="2598420"/>
          </a:xfrm>
          <a:prstGeom prst="rect">
            <a:avLst/>
          </a:prstGeom>
        </p:spPr>
        <p:txBody>
          <a:bodyPr anchor="t" rtlCol="false" tIns="0" lIns="0" bIns="0" rIns="0">
            <a:spAutoFit/>
          </a:bodyPr>
          <a:lstStyle/>
          <a:p>
            <a:pPr algn="just" marL="0" indent="0" lvl="0">
              <a:lnSpc>
                <a:spcPts val="4184"/>
              </a:lnSpc>
              <a:spcBef>
                <a:spcPct val="0"/>
              </a:spcBef>
            </a:pPr>
            <a:r>
              <a:rPr lang="en-US" sz="3099" spc="49">
                <a:solidFill>
                  <a:srgbClr val="EFEFEF"/>
                </a:solidFill>
                <a:latin typeface="TT Hoves"/>
                <a:ea typeface="TT Hoves"/>
                <a:cs typeface="TT Hoves"/>
                <a:sym typeface="TT Hoves"/>
              </a:rPr>
              <a:t>C</a:t>
            </a:r>
            <a:r>
              <a:rPr lang="en-US" sz="3099" spc="49" u="none">
                <a:solidFill>
                  <a:srgbClr val="EFEFEF"/>
                </a:solidFill>
                <a:latin typeface="TT Hoves"/>
                <a:ea typeface="TT Hoves"/>
                <a:cs typeface="TT Hoves"/>
                <a:sym typeface="TT Hoves"/>
              </a:rPr>
              <a:t>ombines:</a:t>
            </a:r>
          </a:p>
          <a:p>
            <a:pPr algn="just" marL="669289" indent="-334645" lvl="1">
              <a:lnSpc>
                <a:spcPts val="4184"/>
              </a:lnSpc>
              <a:spcBef>
                <a:spcPct val="0"/>
              </a:spcBef>
              <a:buFont typeface="Arial"/>
              <a:buChar char="•"/>
            </a:pPr>
            <a:r>
              <a:rPr lang="en-US" sz="3099" spc="49" u="none">
                <a:solidFill>
                  <a:srgbClr val="EFEFEF"/>
                </a:solidFill>
                <a:latin typeface="TT Hoves"/>
                <a:ea typeface="TT Hoves"/>
                <a:cs typeface="TT Hoves"/>
                <a:sym typeface="TT Hoves"/>
              </a:rPr>
              <a:t>Computer Vision</a:t>
            </a:r>
          </a:p>
          <a:p>
            <a:pPr algn="just" marL="669289" indent="-334645" lvl="1">
              <a:lnSpc>
                <a:spcPts val="4184"/>
              </a:lnSpc>
              <a:spcBef>
                <a:spcPct val="0"/>
              </a:spcBef>
              <a:buFont typeface="Arial"/>
              <a:buChar char="•"/>
            </a:pPr>
            <a:r>
              <a:rPr lang="en-US" sz="3099" spc="49" u="none">
                <a:solidFill>
                  <a:srgbClr val="EFEFEF"/>
                </a:solidFill>
                <a:latin typeface="TT Hoves"/>
                <a:ea typeface="TT Hoves"/>
                <a:cs typeface="TT Hoves"/>
                <a:sym typeface="TT Hoves"/>
              </a:rPr>
              <a:t>Embedded Systems</a:t>
            </a:r>
          </a:p>
          <a:p>
            <a:pPr algn="just" marL="0" indent="0" lvl="0">
              <a:lnSpc>
                <a:spcPts val="4184"/>
              </a:lnSpc>
              <a:spcBef>
                <a:spcPct val="0"/>
              </a:spcBef>
            </a:pPr>
          </a:p>
        </p:txBody>
      </p:sp>
      <p:sp>
        <p:nvSpPr>
          <p:cNvPr name="TextBox 19" id="19"/>
          <p:cNvSpPr txBox="true"/>
          <p:nvPr/>
        </p:nvSpPr>
        <p:spPr>
          <a:xfrm rot="0">
            <a:off x="12218908" y="7305542"/>
            <a:ext cx="4132127" cy="1026795"/>
          </a:xfrm>
          <a:prstGeom prst="rect">
            <a:avLst/>
          </a:prstGeom>
        </p:spPr>
        <p:txBody>
          <a:bodyPr anchor="t" rtlCol="false" tIns="0" lIns="0" bIns="0" rIns="0">
            <a:spAutoFit/>
          </a:bodyPr>
          <a:lstStyle/>
          <a:p>
            <a:pPr algn="just" marL="0" indent="0" lvl="0">
              <a:lnSpc>
                <a:spcPts val="4184"/>
              </a:lnSpc>
              <a:spcBef>
                <a:spcPct val="0"/>
              </a:spcBef>
            </a:pPr>
            <a:r>
              <a:rPr lang="en-US" sz="3099" spc="49">
                <a:solidFill>
                  <a:srgbClr val="EFEFEF"/>
                </a:solidFill>
                <a:latin typeface="TT Hoves"/>
                <a:ea typeface="TT Hoves"/>
                <a:cs typeface="TT Hoves"/>
                <a:sym typeface="TT Hoves"/>
              </a:rPr>
              <a:t>U</a:t>
            </a:r>
            <a:r>
              <a:rPr lang="en-US" sz="3099" spc="49" u="none">
                <a:solidFill>
                  <a:srgbClr val="EFEFEF"/>
                </a:solidFill>
                <a:latin typeface="TT Hoves"/>
                <a:ea typeface="TT Hoves"/>
                <a:cs typeface="TT Hoves"/>
                <a:sym typeface="TT Hoves"/>
              </a:rPr>
              <a:t>sed in automation &amp; smart systems</a:t>
            </a:r>
          </a:p>
        </p:txBody>
      </p:sp>
      <p:sp>
        <p:nvSpPr>
          <p:cNvPr name="TextBox 20" id="20"/>
          <p:cNvSpPr txBox="true"/>
          <p:nvPr/>
        </p:nvSpPr>
        <p:spPr>
          <a:xfrm rot="0">
            <a:off x="1504950" y="3384816"/>
            <a:ext cx="7639050" cy="2613580"/>
          </a:xfrm>
          <a:prstGeom prst="rect">
            <a:avLst/>
          </a:prstGeom>
        </p:spPr>
        <p:txBody>
          <a:bodyPr anchor="t" rtlCol="false" tIns="0" lIns="0" bIns="0" rIns="0">
            <a:spAutoFit/>
          </a:bodyPr>
          <a:lstStyle/>
          <a:p>
            <a:pPr algn="l">
              <a:lnSpc>
                <a:spcPts val="10180"/>
              </a:lnSpc>
            </a:pPr>
            <a:r>
              <a:rPr lang="en-US" sz="9695" spc="-475" b="true">
                <a:solidFill>
                  <a:srgbClr val="343434"/>
                </a:solidFill>
                <a:latin typeface="TT Hoves Bold"/>
                <a:ea typeface="TT Hoves Bold"/>
                <a:cs typeface="TT Hoves Bold"/>
                <a:sym typeface="TT Hoves Bold"/>
              </a:rPr>
              <a:t>Introduction</a:t>
            </a:r>
          </a:p>
          <a:p>
            <a:pPr algn="l">
              <a:lnSpc>
                <a:spcPts val="1018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2706356" y="4667564"/>
            <a:ext cx="6768973" cy="5151120"/>
          </a:xfrm>
          <a:prstGeom prst="rect">
            <a:avLst/>
          </a:prstGeom>
        </p:spPr>
        <p:txBody>
          <a:bodyPr anchor="t" rtlCol="false" tIns="0" lIns="0" bIns="0" rIns="0">
            <a:spAutoFit/>
          </a:bodyPr>
          <a:lstStyle/>
          <a:p>
            <a:pPr algn="just" marL="0" indent="0" lvl="0">
              <a:lnSpc>
                <a:spcPts val="3509"/>
              </a:lnSpc>
              <a:spcBef>
                <a:spcPct val="0"/>
              </a:spcBef>
            </a:pPr>
            <a:r>
              <a:rPr lang="en-US" sz="2599" spc="155">
                <a:solidFill>
                  <a:srgbClr val="343434"/>
                </a:solidFill>
                <a:latin typeface="TT Hoves"/>
                <a:ea typeface="TT Hoves"/>
                <a:cs typeface="TT Hoves"/>
                <a:sym typeface="TT Hoves"/>
              </a:rPr>
              <a:t>T</a:t>
            </a:r>
            <a:r>
              <a:rPr lang="en-US" sz="2599" spc="155" u="none">
                <a:solidFill>
                  <a:srgbClr val="343434"/>
                </a:solidFill>
                <a:latin typeface="TT Hoves"/>
                <a:ea typeface="TT Hoves"/>
                <a:cs typeface="TT Hoves"/>
                <a:sym typeface="TT Hoves"/>
              </a:rPr>
              <a:t>raditional systems require physical interaction Not suitable for hygiene or automation Need for: Contactless control Real-time response Low-cost solution</a:t>
            </a:r>
          </a:p>
          <a:p>
            <a:pPr algn="just" marL="0" indent="0" lvl="0">
              <a:lnSpc>
                <a:spcPts val="2699"/>
              </a:lnSpc>
              <a:spcBef>
                <a:spcPct val="0"/>
              </a:spcBef>
            </a:pPr>
          </a:p>
          <a:p>
            <a:pPr algn="just" marL="0" indent="0" lvl="0">
              <a:lnSpc>
                <a:spcPts val="3509"/>
              </a:lnSpc>
              <a:spcBef>
                <a:spcPct val="0"/>
              </a:spcBef>
            </a:pPr>
            <a:r>
              <a:rPr lang="en-US" sz="2599" spc="155" u="none">
                <a:solidFill>
                  <a:srgbClr val="343434"/>
                </a:solidFill>
                <a:latin typeface="TT Hoves"/>
                <a:ea typeface="TT Hoves"/>
                <a:cs typeface="TT Hoves"/>
                <a:sym typeface="TT Hoves"/>
              </a:rPr>
              <a:t>Traditional systems like switches and remotes require physical interaction. In environments like hospitals or smart homes, touchless systems are more useful. So, we aim to build a low-cost real-time gesture control system</a:t>
            </a:r>
          </a:p>
        </p:txBody>
      </p:sp>
      <p:sp>
        <p:nvSpPr>
          <p:cNvPr name="TextBox 3" id="3"/>
          <p:cNvSpPr txBox="true"/>
          <p:nvPr/>
        </p:nvSpPr>
        <p:spPr>
          <a:xfrm rot="0">
            <a:off x="2706356" y="1868684"/>
            <a:ext cx="7639050" cy="2613580"/>
          </a:xfrm>
          <a:prstGeom prst="rect">
            <a:avLst/>
          </a:prstGeom>
        </p:spPr>
        <p:txBody>
          <a:bodyPr anchor="t" rtlCol="false" tIns="0" lIns="0" bIns="0" rIns="0">
            <a:spAutoFit/>
          </a:bodyPr>
          <a:lstStyle/>
          <a:p>
            <a:pPr algn="just">
              <a:lnSpc>
                <a:spcPts val="10180"/>
              </a:lnSpc>
            </a:pPr>
            <a:r>
              <a:rPr lang="en-US" b="true" sz="9695" spc="-475">
                <a:solidFill>
                  <a:srgbClr val="343434"/>
                </a:solidFill>
                <a:latin typeface="TT Hoves Bold"/>
                <a:ea typeface="TT Hoves Bold"/>
                <a:cs typeface="TT Hoves Bold"/>
                <a:sym typeface="TT Hoves Bold"/>
              </a:rPr>
              <a:t>Problem Statement</a:t>
            </a:r>
          </a:p>
        </p:txBody>
      </p:sp>
      <p:sp>
        <p:nvSpPr>
          <p:cNvPr name="Freeform 4" id="4"/>
          <p:cNvSpPr/>
          <p:nvPr/>
        </p:nvSpPr>
        <p:spPr>
          <a:xfrm flipH="false" flipV="false" rot="0">
            <a:off x="9560011" y="-2564899"/>
            <a:ext cx="16075318" cy="16075318"/>
          </a:xfrm>
          <a:custGeom>
            <a:avLst/>
            <a:gdLst/>
            <a:ahLst/>
            <a:cxnLst/>
            <a:rect r="r" b="b" t="t" l="l"/>
            <a:pathLst>
              <a:path h="16075318" w="16075318">
                <a:moveTo>
                  <a:pt x="0" y="0"/>
                </a:moveTo>
                <a:lnTo>
                  <a:pt x="16075318" y="0"/>
                </a:lnTo>
                <a:lnTo>
                  <a:pt x="16075318" y="16075318"/>
                </a:lnTo>
                <a:lnTo>
                  <a:pt x="0" y="1607531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696258" y="-976142"/>
            <a:ext cx="2222590" cy="11878896"/>
            <a:chOff x="0" y="0"/>
            <a:chExt cx="585373" cy="3128598"/>
          </a:xfrm>
        </p:grpSpPr>
        <p:sp>
          <p:nvSpPr>
            <p:cNvPr name="Freeform 6" id="6"/>
            <p:cNvSpPr/>
            <p:nvPr/>
          </p:nvSpPr>
          <p:spPr>
            <a:xfrm flipH="false" flipV="false" rot="0">
              <a:off x="0" y="0"/>
              <a:ext cx="585373" cy="3128598"/>
            </a:xfrm>
            <a:custGeom>
              <a:avLst/>
              <a:gdLst/>
              <a:ahLst/>
              <a:cxnLst/>
              <a:rect r="r" b="b" t="t" l="l"/>
              <a:pathLst>
                <a:path h="3128598" w="585373">
                  <a:moveTo>
                    <a:pt x="0" y="0"/>
                  </a:moveTo>
                  <a:lnTo>
                    <a:pt x="585373" y="0"/>
                  </a:lnTo>
                  <a:lnTo>
                    <a:pt x="585373" y="3128598"/>
                  </a:lnTo>
                  <a:lnTo>
                    <a:pt x="0" y="3128598"/>
                  </a:lnTo>
                  <a:close/>
                </a:path>
              </a:pathLst>
            </a:custGeom>
            <a:solidFill>
              <a:srgbClr val="0003FF"/>
            </a:solidFill>
          </p:spPr>
        </p:sp>
        <p:sp>
          <p:nvSpPr>
            <p:cNvPr name="TextBox 7" id="7"/>
            <p:cNvSpPr txBox="true"/>
            <p:nvPr/>
          </p:nvSpPr>
          <p:spPr>
            <a:xfrm>
              <a:off x="0" y="-57150"/>
              <a:ext cx="585373" cy="3185748"/>
            </a:xfrm>
            <a:prstGeom prst="rect">
              <a:avLst/>
            </a:prstGeom>
          </p:spPr>
          <p:txBody>
            <a:bodyPr anchor="ctr" rtlCol="false" tIns="50800" lIns="50800" bIns="50800" rIns="50800"/>
            <a:lstStyle/>
            <a:p>
              <a:pPr algn="ctr">
                <a:lnSpc>
                  <a:spcPts val="3639"/>
                </a:lnSpc>
              </a:pPr>
            </a:p>
          </p:txBody>
        </p:sp>
      </p:grpSp>
      <p:sp>
        <p:nvSpPr>
          <p:cNvPr name="TextBox 8" id="8"/>
          <p:cNvSpPr txBox="true"/>
          <p:nvPr/>
        </p:nvSpPr>
        <p:spPr>
          <a:xfrm rot="0">
            <a:off x="12601687" y="6540872"/>
            <a:ext cx="7498697" cy="4832876"/>
          </a:xfrm>
          <a:prstGeom prst="rect">
            <a:avLst/>
          </a:prstGeom>
        </p:spPr>
        <p:txBody>
          <a:bodyPr anchor="t" rtlCol="false" tIns="0" lIns="0" bIns="0" rIns="0">
            <a:spAutoFit/>
          </a:bodyPr>
          <a:lstStyle/>
          <a:p>
            <a:pPr algn="ctr">
              <a:lnSpc>
                <a:spcPts val="35614"/>
              </a:lnSpc>
            </a:pPr>
            <a:r>
              <a:rPr lang="en-US" b="true" sz="37888" spc="-1856">
                <a:solidFill>
                  <a:srgbClr val="343434"/>
                </a:solidFill>
                <a:latin typeface="TT Hoves Bold"/>
                <a:ea typeface="TT Hoves Bold"/>
                <a:cs typeface="TT Hoves Bold"/>
                <a:sym typeface="TT Hoves Bold"/>
              </a:rPr>
              <a:t>03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2007223" y="1698999"/>
            <a:ext cx="2197323" cy="6794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01</a:t>
            </a:r>
          </a:p>
        </p:txBody>
      </p:sp>
      <p:sp>
        <p:nvSpPr>
          <p:cNvPr name="TextBox 3" id="3"/>
          <p:cNvSpPr txBox="true"/>
          <p:nvPr/>
        </p:nvSpPr>
        <p:spPr>
          <a:xfrm rot="0">
            <a:off x="2007223" y="5274145"/>
            <a:ext cx="2197323" cy="6794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02</a:t>
            </a:r>
          </a:p>
        </p:txBody>
      </p:sp>
      <p:sp>
        <p:nvSpPr>
          <p:cNvPr name="TextBox 4" id="4"/>
          <p:cNvSpPr txBox="true"/>
          <p:nvPr/>
        </p:nvSpPr>
        <p:spPr>
          <a:xfrm rot="0">
            <a:off x="2007223" y="2483225"/>
            <a:ext cx="2646492" cy="1791843"/>
          </a:xfrm>
          <a:prstGeom prst="rect">
            <a:avLst/>
          </a:prstGeom>
        </p:spPr>
        <p:txBody>
          <a:bodyPr anchor="t" rtlCol="false" tIns="0" lIns="0" bIns="0" rIns="0">
            <a:spAutoFit/>
          </a:bodyPr>
          <a:lstStyle/>
          <a:p>
            <a:pPr algn="just">
              <a:lnSpc>
                <a:spcPts val="4835"/>
              </a:lnSpc>
            </a:pPr>
            <a:r>
              <a:rPr lang="en-US" sz="3099">
                <a:solidFill>
                  <a:srgbClr val="343434"/>
                </a:solidFill>
                <a:latin typeface="TT Hoves"/>
                <a:ea typeface="TT Hoves"/>
                <a:cs typeface="TT Hoves"/>
                <a:sym typeface="TT Hoves"/>
              </a:rPr>
              <a:t>R</a:t>
            </a:r>
            <a:r>
              <a:rPr lang="en-US" sz="3099">
                <a:solidFill>
                  <a:srgbClr val="343434"/>
                </a:solidFill>
                <a:latin typeface="TT Hoves"/>
                <a:ea typeface="TT Hoves"/>
                <a:cs typeface="TT Hoves"/>
                <a:sym typeface="TT Hoves"/>
              </a:rPr>
              <a:t>eal-time gesture detection</a:t>
            </a:r>
          </a:p>
        </p:txBody>
      </p:sp>
      <p:sp>
        <p:nvSpPr>
          <p:cNvPr name="TextBox 5" id="5"/>
          <p:cNvSpPr txBox="true"/>
          <p:nvPr/>
        </p:nvSpPr>
        <p:spPr>
          <a:xfrm rot="0">
            <a:off x="2007223" y="6058371"/>
            <a:ext cx="2732862" cy="1791843"/>
          </a:xfrm>
          <a:prstGeom prst="rect">
            <a:avLst/>
          </a:prstGeom>
        </p:spPr>
        <p:txBody>
          <a:bodyPr anchor="t" rtlCol="false" tIns="0" lIns="0" bIns="0" rIns="0">
            <a:spAutoFit/>
          </a:bodyPr>
          <a:lstStyle/>
          <a:p>
            <a:pPr algn="just">
              <a:lnSpc>
                <a:spcPts val="4835"/>
              </a:lnSpc>
            </a:pPr>
            <a:r>
              <a:rPr lang="en-US" sz="3099">
                <a:solidFill>
                  <a:srgbClr val="343434"/>
                </a:solidFill>
                <a:latin typeface="TT Hoves"/>
                <a:ea typeface="TT Hoves"/>
                <a:cs typeface="TT Hoves"/>
                <a:sym typeface="TT Hoves"/>
              </a:rPr>
              <a:t>W</a:t>
            </a:r>
            <a:r>
              <a:rPr lang="en-US" sz="3099">
                <a:solidFill>
                  <a:srgbClr val="343434"/>
                </a:solidFill>
                <a:latin typeface="TT Hoves"/>
                <a:ea typeface="TT Hoves"/>
                <a:cs typeface="TT Hoves"/>
                <a:sym typeface="TT Hoves"/>
              </a:rPr>
              <a:t>i-Fi communication with ESP32</a:t>
            </a:r>
          </a:p>
        </p:txBody>
      </p:sp>
      <p:sp>
        <p:nvSpPr>
          <p:cNvPr name="TextBox 6" id="6"/>
          <p:cNvSpPr txBox="true"/>
          <p:nvPr/>
        </p:nvSpPr>
        <p:spPr>
          <a:xfrm rot="0">
            <a:off x="6616921" y="1698999"/>
            <a:ext cx="2197323" cy="6794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03</a:t>
            </a:r>
          </a:p>
        </p:txBody>
      </p:sp>
      <p:sp>
        <p:nvSpPr>
          <p:cNvPr name="TextBox 7" id="7"/>
          <p:cNvSpPr txBox="true"/>
          <p:nvPr/>
        </p:nvSpPr>
        <p:spPr>
          <a:xfrm rot="0">
            <a:off x="6616921" y="2483225"/>
            <a:ext cx="2747991" cy="1791843"/>
          </a:xfrm>
          <a:prstGeom prst="rect">
            <a:avLst/>
          </a:prstGeom>
        </p:spPr>
        <p:txBody>
          <a:bodyPr anchor="t" rtlCol="false" tIns="0" lIns="0" bIns="0" rIns="0">
            <a:spAutoFit/>
          </a:bodyPr>
          <a:lstStyle/>
          <a:p>
            <a:pPr algn="just">
              <a:lnSpc>
                <a:spcPts val="4835"/>
              </a:lnSpc>
            </a:pPr>
            <a:r>
              <a:rPr lang="en-US" sz="3099">
                <a:solidFill>
                  <a:srgbClr val="343434"/>
                </a:solidFill>
                <a:latin typeface="TT Hoves"/>
                <a:ea typeface="TT Hoves"/>
                <a:cs typeface="TT Hoves"/>
                <a:sym typeface="TT Hoves"/>
              </a:rPr>
              <a:t>F</a:t>
            </a:r>
            <a:r>
              <a:rPr lang="en-US" sz="3099">
                <a:solidFill>
                  <a:srgbClr val="343434"/>
                </a:solidFill>
                <a:latin typeface="TT Hoves"/>
                <a:ea typeface="TT Hoves"/>
                <a:cs typeface="TT Hoves"/>
                <a:sym typeface="TT Hoves"/>
              </a:rPr>
              <a:t>inger tracking using MediaPipe</a:t>
            </a:r>
          </a:p>
        </p:txBody>
      </p:sp>
      <p:sp>
        <p:nvSpPr>
          <p:cNvPr name="TextBox 8" id="8"/>
          <p:cNvSpPr txBox="true"/>
          <p:nvPr/>
        </p:nvSpPr>
        <p:spPr>
          <a:xfrm rot="0">
            <a:off x="6616921" y="5274145"/>
            <a:ext cx="2197323" cy="6794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04</a:t>
            </a:r>
          </a:p>
        </p:txBody>
      </p:sp>
      <p:sp>
        <p:nvSpPr>
          <p:cNvPr name="TextBox 9" id="9"/>
          <p:cNvSpPr txBox="true"/>
          <p:nvPr/>
        </p:nvSpPr>
        <p:spPr>
          <a:xfrm rot="0">
            <a:off x="6616921" y="6058371"/>
            <a:ext cx="2646492" cy="1182243"/>
          </a:xfrm>
          <a:prstGeom prst="rect">
            <a:avLst/>
          </a:prstGeom>
        </p:spPr>
        <p:txBody>
          <a:bodyPr anchor="t" rtlCol="false" tIns="0" lIns="0" bIns="0" rIns="0">
            <a:spAutoFit/>
          </a:bodyPr>
          <a:lstStyle/>
          <a:p>
            <a:pPr algn="just">
              <a:lnSpc>
                <a:spcPts val="4835"/>
              </a:lnSpc>
            </a:pPr>
            <a:r>
              <a:rPr lang="en-US" sz="3099">
                <a:solidFill>
                  <a:srgbClr val="343434"/>
                </a:solidFill>
                <a:latin typeface="TT Hoves"/>
                <a:ea typeface="TT Hoves"/>
                <a:cs typeface="TT Hoves"/>
                <a:sym typeface="TT Hoves"/>
              </a:rPr>
              <a:t>LED control using gestures</a:t>
            </a:r>
          </a:p>
        </p:txBody>
      </p:sp>
      <p:grpSp>
        <p:nvGrpSpPr>
          <p:cNvPr name="Group 10" id="10"/>
          <p:cNvGrpSpPr/>
          <p:nvPr/>
        </p:nvGrpSpPr>
        <p:grpSpPr>
          <a:xfrm rot="0">
            <a:off x="1547478" y="1755600"/>
            <a:ext cx="273982" cy="245024"/>
            <a:chOff x="0" y="0"/>
            <a:chExt cx="91718" cy="82024"/>
          </a:xfrm>
        </p:grpSpPr>
        <p:sp>
          <p:nvSpPr>
            <p:cNvPr name="Freeform 11" id="11"/>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12" id="12"/>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13" id="13"/>
          <p:cNvGrpSpPr/>
          <p:nvPr/>
        </p:nvGrpSpPr>
        <p:grpSpPr>
          <a:xfrm rot="0">
            <a:off x="1547478" y="5330746"/>
            <a:ext cx="273982" cy="245024"/>
            <a:chOff x="0" y="0"/>
            <a:chExt cx="91718" cy="82024"/>
          </a:xfrm>
        </p:grpSpPr>
        <p:sp>
          <p:nvSpPr>
            <p:cNvPr name="Freeform 14" id="14"/>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15" id="15"/>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16" id="16"/>
          <p:cNvGrpSpPr/>
          <p:nvPr/>
        </p:nvGrpSpPr>
        <p:grpSpPr>
          <a:xfrm rot="0">
            <a:off x="6200012" y="5330746"/>
            <a:ext cx="273982" cy="245024"/>
            <a:chOff x="0" y="0"/>
            <a:chExt cx="91718" cy="82024"/>
          </a:xfrm>
        </p:grpSpPr>
        <p:sp>
          <p:nvSpPr>
            <p:cNvPr name="Freeform 17" id="17"/>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18" id="18"/>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19" id="19"/>
          <p:cNvGrpSpPr/>
          <p:nvPr/>
        </p:nvGrpSpPr>
        <p:grpSpPr>
          <a:xfrm rot="0">
            <a:off x="6200012" y="1755600"/>
            <a:ext cx="273982" cy="245024"/>
            <a:chOff x="0" y="0"/>
            <a:chExt cx="91718" cy="82024"/>
          </a:xfrm>
        </p:grpSpPr>
        <p:sp>
          <p:nvSpPr>
            <p:cNvPr name="Freeform 20" id="20"/>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21" id="21"/>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sp>
        <p:nvSpPr>
          <p:cNvPr name="TextBox 22" id="22"/>
          <p:cNvSpPr txBox="true"/>
          <p:nvPr/>
        </p:nvSpPr>
        <p:spPr>
          <a:xfrm rot="0">
            <a:off x="10324016" y="6736791"/>
            <a:ext cx="7648206" cy="1352955"/>
          </a:xfrm>
          <a:prstGeom prst="rect">
            <a:avLst/>
          </a:prstGeom>
        </p:spPr>
        <p:txBody>
          <a:bodyPr anchor="t" rtlCol="false" tIns="0" lIns="0" bIns="0" rIns="0">
            <a:spAutoFit/>
          </a:bodyPr>
          <a:lstStyle/>
          <a:p>
            <a:pPr algn="r">
              <a:lnSpc>
                <a:spcPts val="9141"/>
              </a:lnSpc>
            </a:pPr>
            <a:r>
              <a:rPr lang="en-US" b="true" sz="12696" spc="-622">
                <a:solidFill>
                  <a:srgbClr val="343434"/>
                </a:solidFill>
                <a:latin typeface="TT Hoves Bold"/>
                <a:ea typeface="TT Hoves Bold"/>
                <a:cs typeface="TT Hoves Bold"/>
                <a:sym typeface="TT Hoves Bold"/>
              </a:rPr>
              <a:t>Objectives</a:t>
            </a:r>
          </a:p>
        </p:txBody>
      </p:sp>
      <p:sp>
        <p:nvSpPr>
          <p:cNvPr name="Freeform 23" id="23"/>
          <p:cNvSpPr/>
          <p:nvPr/>
        </p:nvSpPr>
        <p:spPr>
          <a:xfrm flipH="false" flipV="false" rot="0">
            <a:off x="9555412" y="-7939543"/>
            <a:ext cx="14102688" cy="14102688"/>
          </a:xfrm>
          <a:custGeom>
            <a:avLst/>
            <a:gdLst/>
            <a:ahLst/>
            <a:cxnLst/>
            <a:rect r="r" b="b" t="t" l="l"/>
            <a:pathLst>
              <a:path h="14102688" w="14102688">
                <a:moveTo>
                  <a:pt x="0" y="0"/>
                </a:moveTo>
                <a:lnTo>
                  <a:pt x="14102688" y="0"/>
                </a:lnTo>
                <a:lnTo>
                  <a:pt x="14102688" y="14102689"/>
                </a:lnTo>
                <a:lnTo>
                  <a:pt x="0" y="1410268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24" id="24"/>
          <p:cNvSpPr txBox="true"/>
          <p:nvPr/>
        </p:nvSpPr>
        <p:spPr>
          <a:xfrm rot="0">
            <a:off x="12880286" y="-327462"/>
            <a:ext cx="6393149" cy="4116084"/>
          </a:xfrm>
          <a:prstGeom prst="rect">
            <a:avLst/>
          </a:prstGeom>
        </p:spPr>
        <p:txBody>
          <a:bodyPr anchor="t" rtlCol="false" tIns="0" lIns="0" bIns="0" rIns="0">
            <a:spAutoFit/>
          </a:bodyPr>
          <a:lstStyle/>
          <a:p>
            <a:pPr algn="ctr">
              <a:lnSpc>
                <a:spcPts val="30364"/>
              </a:lnSpc>
            </a:pPr>
            <a:r>
              <a:rPr lang="en-US" b="true" sz="32302" spc="-1582">
                <a:solidFill>
                  <a:srgbClr val="343434"/>
                </a:solidFill>
                <a:latin typeface="TT Hoves Bold"/>
                <a:ea typeface="TT Hoves Bold"/>
                <a:cs typeface="TT Hoves Bold"/>
                <a:sym typeface="TT Hoves Bold"/>
              </a:rPr>
              <a:t>04</a:t>
            </a:r>
          </a:p>
        </p:txBody>
      </p:sp>
      <p:grpSp>
        <p:nvGrpSpPr>
          <p:cNvPr name="Group 25" id="25"/>
          <p:cNvGrpSpPr/>
          <p:nvPr/>
        </p:nvGrpSpPr>
        <p:grpSpPr>
          <a:xfrm rot="0">
            <a:off x="-696258" y="9258300"/>
            <a:ext cx="19680517" cy="1115933"/>
            <a:chOff x="0" y="0"/>
            <a:chExt cx="5183346" cy="293908"/>
          </a:xfrm>
        </p:grpSpPr>
        <p:sp>
          <p:nvSpPr>
            <p:cNvPr name="Freeform 26" id="26"/>
            <p:cNvSpPr/>
            <p:nvPr/>
          </p:nvSpPr>
          <p:spPr>
            <a:xfrm flipH="false" flipV="false" rot="0">
              <a:off x="0" y="0"/>
              <a:ext cx="5183346" cy="293908"/>
            </a:xfrm>
            <a:custGeom>
              <a:avLst/>
              <a:gdLst/>
              <a:ahLst/>
              <a:cxnLst/>
              <a:rect r="r" b="b" t="t" l="l"/>
              <a:pathLst>
                <a:path h="293908" w="5183346">
                  <a:moveTo>
                    <a:pt x="0" y="0"/>
                  </a:moveTo>
                  <a:lnTo>
                    <a:pt x="5183346" y="0"/>
                  </a:lnTo>
                  <a:lnTo>
                    <a:pt x="5183346" y="293908"/>
                  </a:lnTo>
                  <a:lnTo>
                    <a:pt x="0" y="293908"/>
                  </a:lnTo>
                  <a:close/>
                </a:path>
              </a:pathLst>
            </a:custGeom>
            <a:solidFill>
              <a:srgbClr val="0003FF"/>
            </a:solidFill>
          </p:spPr>
        </p:sp>
        <p:sp>
          <p:nvSpPr>
            <p:cNvPr name="TextBox 27" id="27"/>
            <p:cNvSpPr txBox="true"/>
            <p:nvPr/>
          </p:nvSpPr>
          <p:spPr>
            <a:xfrm>
              <a:off x="0" y="-57150"/>
              <a:ext cx="5183346" cy="351058"/>
            </a:xfrm>
            <a:prstGeom prst="rect">
              <a:avLst/>
            </a:prstGeom>
          </p:spPr>
          <p:txBody>
            <a:bodyPr anchor="ctr" rtlCol="false" tIns="50800" lIns="50800" bIns="50800" rIns="50800"/>
            <a:lstStyle/>
            <a:p>
              <a:pPr algn="ctr">
                <a:lnSpc>
                  <a:spcPts val="363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2401546"/>
            <a:ext cx="8115300" cy="3352879"/>
          </a:xfrm>
          <a:prstGeom prst="rect">
            <a:avLst/>
          </a:prstGeom>
        </p:spPr>
        <p:txBody>
          <a:bodyPr anchor="t" rtlCol="false" tIns="0" lIns="0" bIns="0" rIns="0">
            <a:spAutoFit/>
          </a:bodyPr>
          <a:lstStyle/>
          <a:p>
            <a:pPr algn="l">
              <a:lnSpc>
                <a:spcPts val="12880"/>
              </a:lnSpc>
            </a:pPr>
            <a:r>
              <a:rPr lang="en-US" b="true" sz="13278" spc="-624">
                <a:solidFill>
                  <a:srgbClr val="000000"/>
                </a:solidFill>
                <a:latin typeface="TT Hoves Bold"/>
                <a:ea typeface="TT Hoves Bold"/>
                <a:cs typeface="TT Hoves Bold"/>
                <a:sym typeface="TT Hoves Bold"/>
              </a:rPr>
              <a:t>Scope of Project</a:t>
            </a:r>
          </a:p>
        </p:txBody>
      </p:sp>
      <p:sp>
        <p:nvSpPr>
          <p:cNvPr name="TextBox 3" id="3"/>
          <p:cNvSpPr txBox="true"/>
          <p:nvPr/>
        </p:nvSpPr>
        <p:spPr>
          <a:xfrm rot="0">
            <a:off x="1028700" y="5924550"/>
            <a:ext cx="7707571" cy="3646170"/>
          </a:xfrm>
          <a:prstGeom prst="rect">
            <a:avLst/>
          </a:prstGeom>
        </p:spPr>
        <p:txBody>
          <a:bodyPr anchor="t" rtlCol="false" tIns="0" lIns="0" bIns="0" rIns="0">
            <a:spAutoFit/>
          </a:bodyPr>
          <a:lstStyle/>
          <a:p>
            <a:pPr algn="just" marL="669289" indent="-334645" lvl="1">
              <a:lnSpc>
                <a:spcPts val="4184"/>
              </a:lnSpc>
              <a:spcBef>
                <a:spcPct val="0"/>
              </a:spcBef>
              <a:buFont typeface="Arial"/>
              <a:buChar char="•"/>
            </a:pPr>
            <a:r>
              <a:rPr lang="en-US" b="true" sz="3099" spc="185">
                <a:solidFill>
                  <a:srgbClr val="000000"/>
                </a:solidFill>
                <a:latin typeface="TT Hoves Bold"/>
                <a:ea typeface="TT Hoves Bold"/>
                <a:cs typeface="TT Hoves Bold"/>
                <a:sym typeface="TT Hoves Bold"/>
              </a:rPr>
              <a:t>C</a:t>
            </a:r>
            <a:r>
              <a:rPr lang="en-US" b="true" sz="3099" spc="185" u="none">
                <a:solidFill>
                  <a:srgbClr val="000000"/>
                </a:solidFill>
                <a:latin typeface="TT Hoves Bold"/>
                <a:ea typeface="TT Hoves Bold"/>
                <a:cs typeface="TT Hoves Bold"/>
                <a:sym typeface="TT Hoves Bold"/>
              </a:rPr>
              <a:t>urrent:</a:t>
            </a:r>
            <a:r>
              <a:rPr lang="en-US" sz="3099" spc="185" u="none">
                <a:solidFill>
                  <a:srgbClr val="000000"/>
                </a:solidFill>
                <a:latin typeface="TT Hoves"/>
                <a:ea typeface="TT Hoves"/>
                <a:cs typeface="TT Hoves"/>
                <a:sym typeface="TT Hoves"/>
              </a:rPr>
              <a:t> </a:t>
            </a:r>
          </a:p>
          <a:p>
            <a:pPr algn="just" marL="669289" indent="-334645" lvl="1">
              <a:lnSpc>
                <a:spcPts val="4184"/>
              </a:lnSpc>
              <a:spcBef>
                <a:spcPct val="0"/>
              </a:spcBef>
              <a:buFont typeface="Arial"/>
              <a:buChar char="•"/>
            </a:pPr>
            <a:r>
              <a:rPr lang="en-US" sz="3099" spc="185" u="none">
                <a:solidFill>
                  <a:srgbClr val="000000"/>
                </a:solidFill>
                <a:latin typeface="TT Hoves"/>
                <a:ea typeface="TT Hoves"/>
                <a:cs typeface="TT Hoves"/>
                <a:sym typeface="TT Hoves"/>
              </a:rPr>
              <a:t>LED control</a:t>
            </a:r>
          </a:p>
          <a:p>
            <a:pPr algn="just" marL="669289" indent="-334645" lvl="1">
              <a:lnSpc>
                <a:spcPts val="4184"/>
              </a:lnSpc>
              <a:spcBef>
                <a:spcPct val="0"/>
              </a:spcBef>
              <a:buFont typeface="Arial"/>
              <a:buChar char="•"/>
            </a:pPr>
            <a:r>
              <a:rPr lang="en-US" b="true" sz="3099" spc="185" u="none">
                <a:solidFill>
                  <a:srgbClr val="000000"/>
                </a:solidFill>
                <a:latin typeface="TT Hoves Bold"/>
                <a:ea typeface="TT Hoves Bold"/>
                <a:cs typeface="TT Hoves Bold"/>
                <a:sym typeface="TT Hoves Bold"/>
              </a:rPr>
              <a:t>Future:</a:t>
            </a:r>
          </a:p>
          <a:p>
            <a:pPr algn="just" marL="669289" indent="-334645" lvl="1">
              <a:lnSpc>
                <a:spcPts val="4184"/>
              </a:lnSpc>
              <a:spcBef>
                <a:spcPct val="0"/>
              </a:spcBef>
              <a:buFont typeface="Arial"/>
              <a:buChar char="•"/>
            </a:pPr>
            <a:r>
              <a:rPr lang="en-US" sz="3099" spc="185" u="none">
                <a:solidFill>
                  <a:srgbClr val="000000"/>
                </a:solidFill>
                <a:latin typeface="TT Hoves"/>
                <a:ea typeface="TT Hoves"/>
                <a:cs typeface="TT Hoves"/>
                <a:sym typeface="TT Hoves"/>
              </a:rPr>
              <a:t>Smart homes</a:t>
            </a:r>
          </a:p>
          <a:p>
            <a:pPr algn="just" marL="669289" indent="-334645" lvl="1">
              <a:lnSpc>
                <a:spcPts val="4184"/>
              </a:lnSpc>
              <a:spcBef>
                <a:spcPct val="0"/>
              </a:spcBef>
              <a:buFont typeface="Arial"/>
              <a:buChar char="•"/>
            </a:pPr>
            <a:r>
              <a:rPr lang="en-US" sz="3099" spc="185" u="none">
                <a:solidFill>
                  <a:srgbClr val="000000"/>
                </a:solidFill>
                <a:latin typeface="TT Hoves"/>
                <a:ea typeface="TT Hoves"/>
                <a:cs typeface="TT Hoves"/>
                <a:sym typeface="TT Hoves"/>
              </a:rPr>
              <a:t>Robotics</a:t>
            </a:r>
          </a:p>
          <a:p>
            <a:pPr algn="just" marL="669289" indent="-334645" lvl="1">
              <a:lnSpc>
                <a:spcPts val="4184"/>
              </a:lnSpc>
              <a:spcBef>
                <a:spcPct val="0"/>
              </a:spcBef>
              <a:buFont typeface="Arial"/>
              <a:buChar char="•"/>
            </a:pPr>
            <a:r>
              <a:rPr lang="en-US" sz="3099" spc="185" u="none">
                <a:solidFill>
                  <a:srgbClr val="000000"/>
                </a:solidFill>
                <a:latin typeface="TT Hoves"/>
                <a:ea typeface="TT Hoves"/>
                <a:cs typeface="TT Hoves"/>
                <a:sym typeface="TT Hoves"/>
              </a:rPr>
              <a:t>Automation</a:t>
            </a:r>
          </a:p>
          <a:p>
            <a:pPr algn="just" marL="0" indent="0" lvl="0">
              <a:lnSpc>
                <a:spcPts val="4184"/>
              </a:lnSpc>
              <a:spcBef>
                <a:spcPct val="0"/>
              </a:spcBef>
            </a:pPr>
          </a:p>
        </p:txBody>
      </p:sp>
      <p:sp>
        <p:nvSpPr>
          <p:cNvPr name="Freeform 4" id="4"/>
          <p:cNvSpPr/>
          <p:nvPr/>
        </p:nvSpPr>
        <p:spPr>
          <a:xfrm flipH="false" flipV="false" rot="0">
            <a:off x="8480781" y="-7939543"/>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0766469" y="5556794"/>
            <a:ext cx="8217790" cy="4817439"/>
            <a:chOff x="0" y="0"/>
            <a:chExt cx="2164356" cy="1268790"/>
          </a:xfrm>
        </p:grpSpPr>
        <p:sp>
          <p:nvSpPr>
            <p:cNvPr name="Freeform 6" id="6"/>
            <p:cNvSpPr/>
            <p:nvPr/>
          </p:nvSpPr>
          <p:spPr>
            <a:xfrm flipH="false" flipV="false" rot="0">
              <a:off x="0" y="0"/>
              <a:ext cx="2164356" cy="1268790"/>
            </a:xfrm>
            <a:custGeom>
              <a:avLst/>
              <a:gdLst/>
              <a:ahLst/>
              <a:cxnLst/>
              <a:rect r="r" b="b" t="t" l="l"/>
              <a:pathLst>
                <a:path h="1268790" w="2164356">
                  <a:moveTo>
                    <a:pt x="0" y="0"/>
                  </a:moveTo>
                  <a:lnTo>
                    <a:pt x="2164356" y="0"/>
                  </a:lnTo>
                  <a:lnTo>
                    <a:pt x="2164356" y="1268790"/>
                  </a:lnTo>
                  <a:lnTo>
                    <a:pt x="0" y="1268790"/>
                  </a:lnTo>
                  <a:close/>
                </a:path>
              </a:pathLst>
            </a:custGeom>
            <a:solidFill>
              <a:srgbClr val="0003FF"/>
            </a:solidFill>
          </p:spPr>
        </p:sp>
        <p:sp>
          <p:nvSpPr>
            <p:cNvPr name="TextBox 7" id="7"/>
            <p:cNvSpPr txBox="true"/>
            <p:nvPr/>
          </p:nvSpPr>
          <p:spPr>
            <a:xfrm>
              <a:off x="0" y="-57150"/>
              <a:ext cx="2164356" cy="1325940"/>
            </a:xfrm>
            <a:prstGeom prst="rect">
              <a:avLst/>
            </a:prstGeom>
          </p:spPr>
          <p:txBody>
            <a:bodyPr anchor="ctr" rtlCol="false" tIns="50800" lIns="50800" bIns="50800" rIns="50800"/>
            <a:lstStyle/>
            <a:p>
              <a:pPr algn="ctr">
                <a:lnSpc>
                  <a:spcPts val="3639"/>
                </a:lnSpc>
              </a:pPr>
            </a:p>
          </p:txBody>
        </p:sp>
      </p:grpSp>
      <p:sp>
        <p:nvSpPr>
          <p:cNvPr name="TextBox 8" id="8"/>
          <p:cNvSpPr txBox="true"/>
          <p:nvPr/>
        </p:nvSpPr>
        <p:spPr>
          <a:xfrm rot="0">
            <a:off x="12719168" y="6975212"/>
            <a:ext cx="6265091" cy="4832876"/>
          </a:xfrm>
          <a:prstGeom prst="rect">
            <a:avLst/>
          </a:prstGeom>
        </p:spPr>
        <p:txBody>
          <a:bodyPr anchor="t" rtlCol="false" tIns="0" lIns="0" bIns="0" rIns="0">
            <a:spAutoFit/>
          </a:bodyPr>
          <a:lstStyle/>
          <a:p>
            <a:pPr algn="ctr">
              <a:lnSpc>
                <a:spcPts val="35614"/>
              </a:lnSpc>
            </a:pPr>
            <a:r>
              <a:rPr lang="en-US" b="true" sz="37888" spc="-1856">
                <a:solidFill>
                  <a:srgbClr val="EFEFEF"/>
                </a:solidFill>
                <a:latin typeface="TT Hoves Bold"/>
                <a:ea typeface="TT Hoves Bold"/>
                <a:cs typeface="TT Hoves Bold"/>
                <a:sym typeface="TT Hoves Bold"/>
              </a:rPr>
              <a:t>06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11672061" y="1025292"/>
            <a:ext cx="5587239" cy="2662922"/>
            <a:chOff x="0" y="0"/>
            <a:chExt cx="2065940" cy="984643"/>
          </a:xfrm>
        </p:grpSpPr>
        <p:sp>
          <p:nvSpPr>
            <p:cNvPr name="Freeform 3" id="3"/>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4" id="4"/>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3416809" y="7139097"/>
            <a:ext cx="6393149" cy="4116084"/>
          </a:xfrm>
          <a:prstGeom prst="rect">
            <a:avLst/>
          </a:prstGeom>
        </p:spPr>
        <p:txBody>
          <a:bodyPr anchor="t" rtlCol="false" tIns="0" lIns="0" bIns="0" rIns="0">
            <a:spAutoFit/>
          </a:bodyPr>
          <a:lstStyle/>
          <a:p>
            <a:pPr algn="ctr">
              <a:lnSpc>
                <a:spcPts val="30364"/>
              </a:lnSpc>
            </a:pPr>
            <a:r>
              <a:rPr lang="en-US" b="true" sz="32302" spc="-1582">
                <a:solidFill>
                  <a:srgbClr val="343434"/>
                </a:solidFill>
                <a:latin typeface="TT Hoves Bold"/>
                <a:ea typeface="TT Hoves Bold"/>
                <a:cs typeface="TT Hoves Bold"/>
                <a:sym typeface="TT Hoves Bold"/>
              </a:rPr>
              <a:t>07</a:t>
            </a:r>
          </a:p>
        </p:txBody>
      </p:sp>
      <p:grpSp>
        <p:nvGrpSpPr>
          <p:cNvPr name="Group 6" id="6"/>
          <p:cNvGrpSpPr/>
          <p:nvPr/>
        </p:nvGrpSpPr>
        <p:grpSpPr>
          <a:xfrm rot="0">
            <a:off x="11672061" y="6595378"/>
            <a:ext cx="5587239" cy="2662922"/>
            <a:chOff x="0" y="0"/>
            <a:chExt cx="2065940" cy="984643"/>
          </a:xfrm>
        </p:grpSpPr>
        <p:sp>
          <p:nvSpPr>
            <p:cNvPr name="Freeform 7" id="7"/>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8" id="8"/>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9" id="9"/>
          <p:cNvSpPr/>
          <p:nvPr/>
        </p:nvSpPr>
        <p:spPr>
          <a:xfrm flipH="false" flipV="false" rot="0">
            <a:off x="-3126789" y="-2986203"/>
            <a:ext cx="9584989" cy="9584989"/>
          </a:xfrm>
          <a:custGeom>
            <a:avLst/>
            <a:gdLst/>
            <a:ahLst/>
            <a:cxnLst/>
            <a:rect r="r" b="b" t="t" l="l"/>
            <a:pathLst>
              <a:path h="9584989" w="9584989">
                <a:moveTo>
                  <a:pt x="0" y="0"/>
                </a:moveTo>
                <a:lnTo>
                  <a:pt x="9584989" y="0"/>
                </a:lnTo>
                <a:lnTo>
                  <a:pt x="9584989" y="9584989"/>
                </a:lnTo>
                <a:lnTo>
                  <a:pt x="0" y="958498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1028700" y="1028700"/>
            <a:ext cx="5587239" cy="2662922"/>
            <a:chOff x="0" y="0"/>
            <a:chExt cx="2065940" cy="984643"/>
          </a:xfrm>
        </p:grpSpPr>
        <p:sp>
          <p:nvSpPr>
            <p:cNvPr name="Freeform 11" id="11"/>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12" id="12"/>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1028700" y="3812039"/>
            <a:ext cx="5587239" cy="2662922"/>
            <a:chOff x="0" y="0"/>
            <a:chExt cx="2065940" cy="984643"/>
          </a:xfrm>
        </p:grpSpPr>
        <p:sp>
          <p:nvSpPr>
            <p:cNvPr name="Freeform 14" id="14"/>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15" id="15"/>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6" id="16"/>
          <p:cNvGrpSpPr/>
          <p:nvPr/>
        </p:nvGrpSpPr>
        <p:grpSpPr>
          <a:xfrm rot="0">
            <a:off x="1028700" y="6598786"/>
            <a:ext cx="5587239" cy="2662922"/>
            <a:chOff x="0" y="0"/>
            <a:chExt cx="2065940" cy="984643"/>
          </a:xfrm>
        </p:grpSpPr>
        <p:sp>
          <p:nvSpPr>
            <p:cNvPr name="Freeform 17" id="17"/>
            <p:cNvSpPr/>
            <p:nvPr/>
          </p:nvSpPr>
          <p:spPr>
            <a:xfrm flipH="false" flipV="false" rot="0">
              <a:off x="0" y="0"/>
              <a:ext cx="2065940" cy="984643"/>
            </a:xfrm>
            <a:custGeom>
              <a:avLst/>
              <a:gdLst/>
              <a:ahLst/>
              <a:cxnLst/>
              <a:rect r="r" b="b" t="t" l="l"/>
              <a:pathLst>
                <a:path h="984643" w="2065940">
                  <a:moveTo>
                    <a:pt x="0" y="0"/>
                  </a:moveTo>
                  <a:lnTo>
                    <a:pt x="2065940" y="0"/>
                  </a:lnTo>
                  <a:lnTo>
                    <a:pt x="2065940" y="984643"/>
                  </a:lnTo>
                  <a:lnTo>
                    <a:pt x="0" y="984643"/>
                  </a:lnTo>
                  <a:close/>
                </a:path>
              </a:pathLst>
            </a:custGeom>
            <a:solidFill>
              <a:srgbClr val="0003FF"/>
            </a:solidFill>
            <a:ln cap="sq">
              <a:noFill/>
              <a:prstDash val="solid"/>
              <a:miter/>
            </a:ln>
          </p:spPr>
        </p:sp>
        <p:sp>
          <p:nvSpPr>
            <p:cNvPr name="TextBox 18" id="18"/>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9" id="19"/>
          <p:cNvSpPr/>
          <p:nvPr/>
        </p:nvSpPr>
        <p:spPr>
          <a:xfrm flipH="false" flipV="false" rot="-7900054">
            <a:off x="7348622" y="2133028"/>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2700000">
            <a:off x="10017119" y="2144497"/>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3209977">
            <a:off x="9982257" y="7689589"/>
            <a:ext cx="1012981" cy="454921"/>
          </a:xfrm>
          <a:custGeom>
            <a:avLst/>
            <a:gdLst/>
            <a:ahLst/>
            <a:cxnLst/>
            <a:rect r="r" b="b" t="t" l="l"/>
            <a:pathLst>
              <a:path h="454921" w="1012981">
                <a:moveTo>
                  <a:pt x="0" y="0"/>
                </a:moveTo>
                <a:lnTo>
                  <a:pt x="1012981" y="0"/>
                </a:lnTo>
                <a:lnTo>
                  <a:pt x="1012981" y="454921"/>
                </a:lnTo>
                <a:lnTo>
                  <a:pt x="0" y="4549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7866361">
            <a:off x="7243302" y="7665457"/>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11724039" y="1216003"/>
            <a:ext cx="5483283" cy="2583815"/>
          </a:xfrm>
          <a:prstGeom prst="rect">
            <a:avLst/>
          </a:prstGeom>
        </p:spPr>
        <p:txBody>
          <a:bodyPr anchor="t" rtlCol="false" tIns="0" lIns="0" bIns="0" rIns="0">
            <a:spAutoFit/>
          </a:bodyPr>
          <a:lstStyle/>
          <a:p>
            <a:pPr algn="just">
              <a:lnSpc>
                <a:spcPts val="2980"/>
              </a:lnSpc>
            </a:pPr>
            <a:r>
              <a:rPr lang="en-US" sz="2000">
                <a:solidFill>
                  <a:srgbClr val="EFEFEF"/>
                </a:solidFill>
                <a:latin typeface="TT Hoves"/>
                <a:ea typeface="TT Hoves"/>
                <a:cs typeface="TT Hoves"/>
                <a:sym typeface="TT Hoves"/>
              </a:rPr>
              <a:t>4. ESP32 in IoT Systems</a:t>
            </a:r>
          </a:p>
          <a:p>
            <a:pPr algn="just" marL="431801" indent="-215900" lvl="1">
              <a:lnSpc>
                <a:spcPts val="2980"/>
              </a:lnSpc>
              <a:buFont typeface="Arial"/>
              <a:buChar char="•"/>
            </a:pPr>
            <a:r>
              <a:rPr lang="en-US" sz="2000">
                <a:solidFill>
                  <a:srgbClr val="EFEFEF"/>
                </a:solidFill>
                <a:latin typeface="TT Hoves"/>
                <a:ea typeface="TT Hoves"/>
                <a:cs typeface="TT Hoves"/>
                <a:sym typeface="TT Hoves"/>
              </a:rPr>
              <a:t>Low-cost microcontroller with built-in Wi-Fi &amp; Bluetooth</a:t>
            </a:r>
          </a:p>
          <a:p>
            <a:pPr algn="just" marL="431801" indent="-215900" lvl="1">
              <a:lnSpc>
                <a:spcPts val="2980"/>
              </a:lnSpc>
              <a:buFont typeface="Arial"/>
              <a:buChar char="•"/>
            </a:pPr>
            <a:r>
              <a:rPr lang="en-US" sz="2000">
                <a:solidFill>
                  <a:srgbClr val="EFEFEF"/>
                </a:solidFill>
                <a:latin typeface="TT Hoves"/>
                <a:ea typeface="TT Hoves"/>
                <a:cs typeface="TT Hoves"/>
                <a:sym typeface="TT Hoves"/>
              </a:rPr>
              <a:t>Supports:</a:t>
            </a:r>
          </a:p>
          <a:p>
            <a:pPr algn="just" marL="863601" indent="-287867" lvl="2">
              <a:lnSpc>
                <a:spcPts val="2980"/>
              </a:lnSpc>
              <a:buFont typeface="Arial"/>
              <a:buChar char="⚬"/>
            </a:pPr>
            <a:r>
              <a:rPr lang="en-US" sz="2000">
                <a:solidFill>
                  <a:srgbClr val="EFEFEF"/>
                </a:solidFill>
                <a:latin typeface="TT Hoves"/>
                <a:ea typeface="TT Hoves"/>
                <a:cs typeface="TT Hoves"/>
                <a:sym typeface="TT Hoves"/>
              </a:rPr>
              <a:t>HTTP communication</a:t>
            </a:r>
          </a:p>
          <a:p>
            <a:pPr algn="just" marL="863601" indent="-287867" lvl="2">
              <a:lnSpc>
                <a:spcPts val="2980"/>
              </a:lnSpc>
              <a:buFont typeface="Arial"/>
              <a:buChar char="⚬"/>
            </a:pPr>
            <a:r>
              <a:rPr lang="en-US" sz="2000">
                <a:solidFill>
                  <a:srgbClr val="EFEFEF"/>
                </a:solidFill>
                <a:latin typeface="TT Hoves"/>
                <a:ea typeface="TT Hoves"/>
                <a:cs typeface="TT Hoves"/>
                <a:sym typeface="TT Hoves"/>
              </a:rPr>
              <a:t>Web server functionality</a:t>
            </a:r>
          </a:p>
          <a:p>
            <a:pPr algn="just" marL="0" indent="0" lvl="0">
              <a:lnSpc>
                <a:spcPts val="2980"/>
              </a:lnSpc>
              <a:spcBef>
                <a:spcPct val="0"/>
              </a:spcBef>
            </a:pPr>
          </a:p>
        </p:txBody>
      </p:sp>
      <p:sp>
        <p:nvSpPr>
          <p:cNvPr name="TextBox 24" id="24"/>
          <p:cNvSpPr txBox="true"/>
          <p:nvPr/>
        </p:nvSpPr>
        <p:spPr>
          <a:xfrm rot="0">
            <a:off x="14101836" y="4295902"/>
            <a:ext cx="2816627" cy="1657096"/>
          </a:xfrm>
          <a:prstGeom prst="rect">
            <a:avLst/>
          </a:prstGeom>
        </p:spPr>
        <p:txBody>
          <a:bodyPr anchor="t" rtlCol="false" tIns="0" lIns="0" bIns="0" rIns="0">
            <a:spAutoFit/>
          </a:bodyPr>
          <a:lstStyle/>
          <a:p>
            <a:pPr algn="just" marL="0" indent="0" lvl="0">
              <a:lnSpc>
                <a:spcPts val="1936"/>
              </a:lnSpc>
              <a:spcBef>
                <a:spcPct val="0"/>
              </a:spcBef>
            </a:pPr>
            <a:r>
              <a:rPr lang="en-US" sz="1299" strike="noStrike" u="none">
                <a:solidFill>
                  <a:srgbClr val="EFEFEF"/>
                </a:solidFill>
                <a:latin typeface="TT Hoves"/>
                <a:ea typeface="TT Hoves"/>
                <a:cs typeface="TT Hoves"/>
                <a:sym typeface="TT Hoves"/>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25" id="25"/>
          <p:cNvSpPr txBox="true"/>
          <p:nvPr/>
        </p:nvSpPr>
        <p:spPr>
          <a:xfrm rot="0">
            <a:off x="11724039" y="6609764"/>
            <a:ext cx="5605805" cy="2955290"/>
          </a:xfrm>
          <a:prstGeom prst="rect">
            <a:avLst/>
          </a:prstGeom>
        </p:spPr>
        <p:txBody>
          <a:bodyPr anchor="t" rtlCol="false" tIns="0" lIns="0" bIns="0" rIns="0">
            <a:spAutoFit/>
          </a:bodyPr>
          <a:lstStyle/>
          <a:p>
            <a:pPr algn="just" marL="0" indent="0" lvl="0">
              <a:lnSpc>
                <a:spcPts val="2980"/>
              </a:lnSpc>
              <a:spcBef>
                <a:spcPct val="0"/>
              </a:spcBef>
            </a:pPr>
            <a:r>
              <a:rPr lang="en-US" sz="2000">
                <a:solidFill>
                  <a:srgbClr val="EFEFEF"/>
                </a:solidFill>
                <a:latin typeface="TT Hoves"/>
                <a:ea typeface="TT Hoves"/>
                <a:cs typeface="TT Hoves"/>
                <a:sym typeface="TT Hoves"/>
              </a:rPr>
              <a:t>5. K</a:t>
            </a:r>
            <a:r>
              <a:rPr lang="en-US" sz="2000" strike="noStrike" u="none">
                <a:solidFill>
                  <a:srgbClr val="EFEFEF"/>
                </a:solidFill>
                <a:latin typeface="TT Hoves"/>
                <a:ea typeface="TT Hoves"/>
                <a:cs typeface="TT Hoves"/>
                <a:sym typeface="TT Hoves"/>
              </a:rPr>
              <a:t>ey Insights from Literature</a:t>
            </a:r>
          </a:p>
          <a:p>
            <a:pPr algn="just" marL="431801" indent="-215900" lvl="1">
              <a:lnSpc>
                <a:spcPts val="2980"/>
              </a:lnSpc>
              <a:spcBef>
                <a:spcPct val="0"/>
              </a:spcBef>
              <a:buFont typeface="Arial"/>
              <a:buChar char="•"/>
            </a:pPr>
            <a:r>
              <a:rPr lang="en-US" sz="2000" strike="noStrike" u="none">
                <a:solidFill>
                  <a:srgbClr val="EFEFEF"/>
                </a:solidFill>
                <a:latin typeface="TT Hoves"/>
                <a:ea typeface="TT Hoves"/>
                <a:cs typeface="TT Hoves"/>
                <a:sym typeface="TT Hoves"/>
              </a:rPr>
              <a:t>Vision-based systems are more efficient than hardware-based</a:t>
            </a:r>
          </a:p>
          <a:p>
            <a:pPr algn="just" marL="431801" indent="-215900" lvl="1">
              <a:lnSpc>
                <a:spcPts val="2980"/>
              </a:lnSpc>
              <a:spcBef>
                <a:spcPct val="0"/>
              </a:spcBef>
              <a:buFont typeface="Arial"/>
              <a:buChar char="•"/>
            </a:pPr>
            <a:r>
              <a:rPr lang="en-US" sz="2000" strike="noStrike" u="none">
                <a:solidFill>
                  <a:srgbClr val="EFEFEF"/>
                </a:solidFill>
                <a:latin typeface="TT Hoves"/>
                <a:ea typeface="TT Hoves"/>
                <a:cs typeface="TT Hoves"/>
                <a:sym typeface="TT Hoves"/>
              </a:rPr>
              <a:t>MediaPipe enables accurate real-time gesture detection</a:t>
            </a:r>
          </a:p>
          <a:p>
            <a:pPr algn="just" marL="431801" indent="-215900" lvl="1">
              <a:lnSpc>
                <a:spcPts val="2980"/>
              </a:lnSpc>
              <a:spcBef>
                <a:spcPct val="0"/>
              </a:spcBef>
              <a:buFont typeface="Arial"/>
              <a:buChar char="•"/>
            </a:pPr>
            <a:r>
              <a:rPr lang="en-US" sz="2000" strike="noStrike" u="none">
                <a:solidFill>
                  <a:srgbClr val="EFEFEF"/>
                </a:solidFill>
                <a:latin typeface="TT Hoves"/>
                <a:ea typeface="TT Hoves"/>
                <a:cs typeface="TT Hoves"/>
                <a:sym typeface="TT Hoves"/>
              </a:rPr>
              <a:t>ESP32 provides reliable wireless communication</a:t>
            </a:r>
          </a:p>
          <a:p>
            <a:pPr algn="just" marL="0" indent="0" lvl="0">
              <a:lnSpc>
                <a:spcPts val="2980"/>
              </a:lnSpc>
              <a:spcBef>
                <a:spcPct val="0"/>
              </a:spcBef>
            </a:pPr>
          </a:p>
        </p:txBody>
      </p:sp>
      <p:sp>
        <p:nvSpPr>
          <p:cNvPr name="TextBox 26" id="26"/>
          <p:cNvSpPr txBox="true"/>
          <p:nvPr/>
        </p:nvSpPr>
        <p:spPr>
          <a:xfrm rot="0">
            <a:off x="1319709" y="1120083"/>
            <a:ext cx="4955394" cy="2549081"/>
          </a:xfrm>
          <a:prstGeom prst="rect">
            <a:avLst/>
          </a:prstGeom>
        </p:spPr>
        <p:txBody>
          <a:bodyPr anchor="t" rtlCol="false" tIns="0" lIns="0" bIns="0" rIns="0">
            <a:spAutoFit/>
          </a:bodyPr>
          <a:lstStyle/>
          <a:p>
            <a:pPr algn="just" marL="0" indent="0" lvl="0">
              <a:lnSpc>
                <a:spcPts val="3128"/>
              </a:lnSpc>
            </a:pPr>
            <a:r>
              <a:rPr lang="en-US" sz="2099">
                <a:solidFill>
                  <a:srgbClr val="EFEFEF"/>
                </a:solidFill>
                <a:latin typeface="TT Hoves"/>
                <a:ea typeface="TT Hoves"/>
                <a:cs typeface="TT Hoves"/>
                <a:sym typeface="TT Hoves"/>
              </a:rPr>
              <a:t>1. Hardwa</a:t>
            </a:r>
            <a:r>
              <a:rPr lang="en-US" sz="2099" strike="noStrike" u="none">
                <a:solidFill>
                  <a:srgbClr val="EFEFEF"/>
                </a:solidFill>
                <a:latin typeface="TT Hoves"/>
                <a:ea typeface="TT Hoves"/>
                <a:cs typeface="TT Hoves"/>
                <a:sym typeface="TT Hoves"/>
              </a:rPr>
              <a:t>re-Based Gesture Systems</a:t>
            </a:r>
          </a:p>
          <a:p>
            <a:pPr algn="just" marL="453384" indent="-226692" lvl="1">
              <a:lnSpc>
                <a:spcPts val="3128"/>
              </a:lnSpc>
              <a:buFont typeface="Arial"/>
              <a:buChar char="•"/>
            </a:pPr>
            <a:r>
              <a:rPr lang="en-US" sz="2099" strike="noStrike" u="none">
                <a:solidFill>
                  <a:srgbClr val="EFEFEF"/>
                </a:solidFill>
                <a:latin typeface="TT Hoves"/>
                <a:ea typeface="TT Hoves"/>
                <a:cs typeface="TT Hoves"/>
                <a:sym typeface="TT Hoves"/>
              </a:rPr>
              <a:t>Use:</a:t>
            </a:r>
          </a:p>
          <a:p>
            <a:pPr algn="just" marL="863588" indent="-287863" lvl="2">
              <a:lnSpc>
                <a:spcPts val="2979"/>
              </a:lnSpc>
              <a:buFont typeface="Arial"/>
              <a:buChar char="⚬"/>
            </a:pPr>
            <a:r>
              <a:rPr lang="en-US" sz="1999" strike="noStrike" u="none">
                <a:solidFill>
                  <a:srgbClr val="EFEFEF"/>
                </a:solidFill>
                <a:latin typeface="TT Hoves"/>
                <a:ea typeface="TT Hoves"/>
                <a:cs typeface="TT Hoves"/>
                <a:sym typeface="TT Hoves"/>
              </a:rPr>
              <a:t>Data gloves</a:t>
            </a:r>
          </a:p>
          <a:p>
            <a:pPr algn="just" marL="906767" indent="-302256" lvl="2">
              <a:lnSpc>
                <a:spcPts val="3128"/>
              </a:lnSpc>
              <a:buFont typeface="Arial"/>
              <a:buChar char="⚬"/>
            </a:pPr>
            <a:r>
              <a:rPr lang="en-US" sz="2099" strike="noStrike" u="none">
                <a:solidFill>
                  <a:srgbClr val="EFEFEF"/>
                </a:solidFill>
                <a:latin typeface="TT Hoves"/>
                <a:ea typeface="TT Hoves"/>
                <a:cs typeface="TT Hoves"/>
                <a:sym typeface="TT Hoves"/>
              </a:rPr>
              <a:t>Flex sensors</a:t>
            </a:r>
          </a:p>
          <a:p>
            <a:pPr algn="just" marL="906767" indent="-302256" lvl="2">
              <a:lnSpc>
                <a:spcPts val="3128"/>
              </a:lnSpc>
              <a:buFont typeface="Arial"/>
              <a:buChar char="⚬"/>
            </a:pPr>
            <a:r>
              <a:rPr lang="en-US" sz="2099" strike="noStrike" u="none">
                <a:solidFill>
                  <a:srgbClr val="EFEFEF"/>
                </a:solidFill>
                <a:latin typeface="TT Hoves"/>
                <a:ea typeface="TT Hoves"/>
                <a:cs typeface="TT Hoves"/>
                <a:sym typeface="TT Hoves"/>
              </a:rPr>
              <a:t>Accelerometers</a:t>
            </a:r>
          </a:p>
          <a:p>
            <a:pPr algn="just" marL="453384" indent="-226692" lvl="1">
              <a:lnSpc>
                <a:spcPts val="3128"/>
              </a:lnSpc>
              <a:buFont typeface="Arial"/>
              <a:buChar char="•"/>
            </a:pPr>
            <a:r>
              <a:rPr lang="en-US" sz="2099" strike="noStrike" u="none">
                <a:solidFill>
                  <a:srgbClr val="EFEFEF"/>
                </a:solidFill>
                <a:latin typeface="TT Hoves"/>
                <a:ea typeface="TT Hoves"/>
                <a:cs typeface="TT Hoves"/>
                <a:sym typeface="TT Hoves"/>
              </a:rPr>
              <a:t>Directly measure finger movement</a:t>
            </a:r>
          </a:p>
          <a:p>
            <a:pPr algn="just" marL="0" indent="0" lvl="0">
              <a:lnSpc>
                <a:spcPts val="1787"/>
              </a:lnSpc>
            </a:pPr>
          </a:p>
        </p:txBody>
      </p:sp>
      <p:sp>
        <p:nvSpPr>
          <p:cNvPr name="TextBox 27" id="27"/>
          <p:cNvSpPr txBox="true"/>
          <p:nvPr/>
        </p:nvSpPr>
        <p:spPr>
          <a:xfrm rot="0">
            <a:off x="1228160" y="3816090"/>
            <a:ext cx="5138491" cy="2903665"/>
          </a:xfrm>
          <a:prstGeom prst="rect">
            <a:avLst/>
          </a:prstGeom>
        </p:spPr>
        <p:txBody>
          <a:bodyPr anchor="t" rtlCol="false" tIns="0" lIns="0" bIns="0" rIns="0">
            <a:spAutoFit/>
          </a:bodyPr>
          <a:lstStyle/>
          <a:p>
            <a:pPr algn="just" marL="0" indent="0" lvl="0">
              <a:lnSpc>
                <a:spcPts val="2980"/>
              </a:lnSpc>
            </a:pPr>
            <a:r>
              <a:rPr lang="en-US" sz="2000">
                <a:solidFill>
                  <a:srgbClr val="EFEFEF"/>
                </a:solidFill>
                <a:latin typeface="TT Hoves"/>
                <a:ea typeface="TT Hoves"/>
                <a:cs typeface="TT Hoves"/>
                <a:sym typeface="TT Hoves"/>
              </a:rPr>
              <a:t> 2. Visi</a:t>
            </a:r>
            <a:r>
              <a:rPr lang="en-US" sz="2000" strike="noStrike" u="none">
                <a:solidFill>
                  <a:srgbClr val="EFEFEF"/>
                </a:solidFill>
                <a:latin typeface="TT Hoves"/>
                <a:ea typeface="TT Hoves"/>
                <a:cs typeface="TT Hoves"/>
                <a:sym typeface="TT Hoves"/>
              </a:rPr>
              <a:t>on-Based Gesture Systems</a:t>
            </a:r>
          </a:p>
          <a:p>
            <a:pPr algn="just" marL="431801" indent="-215900" lvl="1">
              <a:lnSpc>
                <a:spcPts val="2980"/>
              </a:lnSpc>
              <a:buFont typeface="Arial"/>
              <a:buChar char="•"/>
            </a:pPr>
            <a:r>
              <a:rPr lang="en-US" sz="2000" strike="noStrike" u="none">
                <a:solidFill>
                  <a:srgbClr val="EFEFEF"/>
                </a:solidFill>
                <a:latin typeface="TT Hoves"/>
                <a:ea typeface="TT Hoves"/>
                <a:cs typeface="TT Hoves"/>
                <a:sym typeface="TT Hoves"/>
              </a:rPr>
              <a:t>Use cameras instead of sensors</a:t>
            </a:r>
          </a:p>
          <a:p>
            <a:pPr algn="just" marL="431801" indent="-215900" lvl="1">
              <a:lnSpc>
                <a:spcPts val="2980"/>
              </a:lnSpc>
              <a:buFont typeface="Arial"/>
              <a:buChar char="•"/>
            </a:pPr>
            <a:r>
              <a:rPr lang="en-US" sz="2000" strike="noStrike" u="none">
                <a:solidFill>
                  <a:srgbClr val="EFEFEF"/>
                </a:solidFill>
                <a:latin typeface="TT Hoves"/>
                <a:ea typeface="TT Hoves"/>
                <a:cs typeface="TT Hoves"/>
                <a:sym typeface="TT Hoves"/>
              </a:rPr>
              <a:t>Process images using computer vision techniques</a:t>
            </a:r>
          </a:p>
          <a:p>
            <a:pPr algn="just" marL="863601" indent="-287867" lvl="2">
              <a:lnSpc>
                <a:spcPts val="2980"/>
              </a:lnSpc>
              <a:buFont typeface="Arial"/>
              <a:buChar char="⚬"/>
            </a:pPr>
            <a:r>
              <a:rPr lang="en-US" sz="2000" strike="noStrike" u="none">
                <a:solidFill>
                  <a:srgbClr val="EFEFEF"/>
                </a:solidFill>
                <a:latin typeface="TT Hoves"/>
                <a:ea typeface="TT Hoves"/>
                <a:cs typeface="TT Hoves"/>
                <a:sym typeface="TT Hoves"/>
              </a:rPr>
              <a:t>Contactless interaction</a:t>
            </a:r>
          </a:p>
          <a:p>
            <a:pPr algn="just" marL="863601" indent="-287867" lvl="2">
              <a:lnSpc>
                <a:spcPts val="2980"/>
              </a:lnSpc>
              <a:buFont typeface="Arial"/>
              <a:buChar char="⚬"/>
            </a:pPr>
            <a:r>
              <a:rPr lang="en-US" sz="2000" strike="noStrike" u="none">
                <a:solidFill>
                  <a:srgbClr val="EFEFEF"/>
                </a:solidFill>
                <a:latin typeface="TT Hoves"/>
                <a:ea typeface="TT Hoves"/>
                <a:cs typeface="TT Hoves"/>
                <a:sym typeface="TT Hoves"/>
              </a:rPr>
              <a:t>More natural and user-friendly</a:t>
            </a:r>
          </a:p>
          <a:p>
            <a:pPr algn="just" marL="863601" indent="-287867" lvl="2">
              <a:lnSpc>
                <a:spcPts val="2980"/>
              </a:lnSpc>
              <a:buFont typeface="Arial"/>
              <a:buChar char="⚬"/>
            </a:pPr>
            <a:r>
              <a:rPr lang="en-US" sz="2000" strike="noStrike" u="none">
                <a:solidFill>
                  <a:srgbClr val="EFEFEF"/>
                </a:solidFill>
                <a:latin typeface="TT Hoves"/>
                <a:ea typeface="TT Hoves"/>
                <a:cs typeface="TT Hoves"/>
                <a:sym typeface="TT Hoves"/>
              </a:rPr>
              <a:t>No extra hardware required</a:t>
            </a:r>
          </a:p>
          <a:p>
            <a:pPr algn="just" marL="0" indent="0" lvl="0">
              <a:lnSpc>
                <a:spcPts val="2532"/>
              </a:lnSpc>
            </a:pPr>
          </a:p>
        </p:txBody>
      </p:sp>
      <p:sp>
        <p:nvSpPr>
          <p:cNvPr name="TextBox 28" id="28"/>
          <p:cNvSpPr txBox="true"/>
          <p:nvPr/>
        </p:nvSpPr>
        <p:spPr>
          <a:xfrm rot="0">
            <a:off x="1298848" y="6609764"/>
            <a:ext cx="5046942" cy="2583816"/>
          </a:xfrm>
          <a:prstGeom prst="rect">
            <a:avLst/>
          </a:prstGeom>
        </p:spPr>
        <p:txBody>
          <a:bodyPr anchor="t" rtlCol="false" tIns="0" lIns="0" bIns="0" rIns="0">
            <a:spAutoFit/>
          </a:bodyPr>
          <a:lstStyle/>
          <a:p>
            <a:pPr algn="just">
              <a:lnSpc>
                <a:spcPts val="2979"/>
              </a:lnSpc>
            </a:pPr>
            <a:r>
              <a:rPr lang="en-US" sz="1999" strike="noStrike" u="none">
                <a:solidFill>
                  <a:srgbClr val="EFEFEF"/>
                </a:solidFill>
                <a:latin typeface="TT Hoves"/>
                <a:ea typeface="TT Hoves"/>
                <a:cs typeface="TT Hoves"/>
                <a:sym typeface="TT Hoves"/>
              </a:rPr>
              <a:t>3. MediaPipe for Hand Tracking</a:t>
            </a:r>
          </a:p>
          <a:p>
            <a:pPr algn="just" marL="431794" indent="-215897" lvl="1">
              <a:lnSpc>
                <a:spcPts val="2979"/>
              </a:lnSpc>
              <a:buFont typeface="Arial"/>
              <a:buChar char="•"/>
            </a:pPr>
            <a:r>
              <a:rPr lang="en-US" sz="1999" strike="noStrike" u="none">
                <a:solidFill>
                  <a:srgbClr val="EFEFEF"/>
                </a:solidFill>
                <a:latin typeface="TT Hoves"/>
                <a:ea typeface="TT Hoves"/>
                <a:cs typeface="TT Hoves"/>
                <a:sym typeface="TT Hoves"/>
              </a:rPr>
              <a:t>Detects 21 hand landmarks (x, y, z coordinates)</a:t>
            </a:r>
          </a:p>
          <a:p>
            <a:pPr algn="just" marL="431794" indent="-215897" lvl="1">
              <a:lnSpc>
                <a:spcPts val="2979"/>
              </a:lnSpc>
              <a:buFont typeface="Arial"/>
              <a:buChar char="•"/>
            </a:pPr>
            <a:r>
              <a:rPr lang="en-US" sz="1999" strike="noStrike" u="none">
                <a:solidFill>
                  <a:srgbClr val="EFEFEF"/>
                </a:solidFill>
                <a:latin typeface="TT Hoves"/>
                <a:ea typeface="TT Hoves"/>
                <a:cs typeface="TT Hoves"/>
                <a:sym typeface="TT Hoves"/>
              </a:rPr>
              <a:t>Features:</a:t>
            </a:r>
          </a:p>
          <a:p>
            <a:pPr algn="just" marL="863588" indent="-287863" lvl="2">
              <a:lnSpc>
                <a:spcPts val="2979"/>
              </a:lnSpc>
              <a:buFont typeface="Arial"/>
              <a:buChar char="⚬"/>
            </a:pPr>
            <a:r>
              <a:rPr lang="en-US" sz="1999" strike="noStrike" u="none">
                <a:solidFill>
                  <a:srgbClr val="EFEFEF"/>
                </a:solidFill>
                <a:latin typeface="TT Hoves"/>
                <a:ea typeface="TT Hoves"/>
                <a:cs typeface="TT Hoves"/>
                <a:sym typeface="TT Hoves"/>
              </a:rPr>
              <a:t>Real-time performance</a:t>
            </a:r>
          </a:p>
          <a:p>
            <a:pPr algn="just" marL="863588" indent="-287863" lvl="2">
              <a:lnSpc>
                <a:spcPts val="2979"/>
              </a:lnSpc>
              <a:buFont typeface="Arial"/>
              <a:buChar char="⚬"/>
            </a:pPr>
            <a:r>
              <a:rPr lang="en-US" sz="1999" strike="noStrike" u="none">
                <a:solidFill>
                  <a:srgbClr val="EFEFEF"/>
                </a:solidFill>
                <a:latin typeface="TT Hoves"/>
                <a:ea typeface="TT Hoves"/>
                <a:cs typeface="TT Hoves"/>
                <a:sym typeface="TT Hoves"/>
              </a:rPr>
              <a:t>High accuracy</a:t>
            </a:r>
          </a:p>
          <a:p>
            <a:pPr algn="just" marL="863588" indent="-287863" lvl="2">
              <a:lnSpc>
                <a:spcPts val="2979"/>
              </a:lnSpc>
              <a:buFont typeface="Arial"/>
              <a:buChar char="⚬"/>
            </a:pPr>
            <a:r>
              <a:rPr lang="en-US" sz="1999" strike="noStrike" u="none">
                <a:solidFill>
                  <a:srgbClr val="EFEFEF"/>
                </a:solidFill>
                <a:latin typeface="TT Hoves"/>
                <a:ea typeface="TT Hoves"/>
                <a:cs typeface="TT Hoves"/>
                <a:sym typeface="TT Hoves"/>
              </a:rPr>
              <a:t>Lightweight and fast</a:t>
            </a:r>
          </a:p>
        </p:txBody>
      </p:sp>
      <p:sp>
        <p:nvSpPr>
          <p:cNvPr name="TextBox 29" id="29"/>
          <p:cNvSpPr txBox="true"/>
          <p:nvPr/>
        </p:nvSpPr>
        <p:spPr>
          <a:xfrm rot="0">
            <a:off x="6995244" y="4025640"/>
            <a:ext cx="4297511" cy="1744604"/>
          </a:xfrm>
          <a:prstGeom prst="rect">
            <a:avLst/>
          </a:prstGeom>
        </p:spPr>
        <p:txBody>
          <a:bodyPr anchor="t" rtlCol="false" tIns="0" lIns="0" bIns="0" rIns="0">
            <a:spAutoFit/>
          </a:bodyPr>
          <a:lstStyle/>
          <a:p>
            <a:pPr algn="ctr" marL="0" indent="0" lvl="1">
              <a:lnSpc>
                <a:spcPts val="6693"/>
              </a:lnSpc>
              <a:spcBef>
                <a:spcPct val="0"/>
              </a:spcBef>
            </a:pPr>
            <a:r>
              <a:rPr lang="en-US" b="true" sz="6900">
                <a:solidFill>
                  <a:srgbClr val="000000"/>
                </a:solidFill>
                <a:latin typeface="TT Hoves Bold"/>
                <a:ea typeface="TT Hoves Bold"/>
                <a:cs typeface="TT Hoves Bold"/>
                <a:sym typeface="TT Hoves Bold"/>
              </a:rPr>
              <a:t>Literature Review</a:t>
            </a:r>
          </a:p>
        </p:txBody>
      </p:sp>
      <p:sp>
        <p:nvSpPr>
          <p:cNvPr name="TextBox 30" id="30"/>
          <p:cNvSpPr txBox="true"/>
          <p:nvPr/>
        </p:nvSpPr>
        <p:spPr>
          <a:xfrm rot="0">
            <a:off x="7362365" y="6159736"/>
            <a:ext cx="3563270" cy="396621"/>
          </a:xfrm>
          <a:prstGeom prst="rect">
            <a:avLst/>
          </a:prstGeom>
        </p:spPr>
        <p:txBody>
          <a:bodyPr anchor="t" rtlCol="false" tIns="0" lIns="0" bIns="0" rIns="0">
            <a:spAutoFit/>
          </a:bodyPr>
          <a:lstStyle/>
          <a:p>
            <a:pPr algn="ctr">
              <a:lnSpc>
                <a:spcPts val="3132"/>
              </a:lnSpc>
            </a:pPr>
            <a:r>
              <a:rPr lang="en-US" sz="2900">
                <a:solidFill>
                  <a:srgbClr val="000000"/>
                </a:solidFill>
                <a:latin typeface="TT Hoves"/>
                <a:ea typeface="TT Hoves"/>
                <a:cs typeface="TT Hoves"/>
                <a:sym typeface="TT Hoves"/>
              </a:rPr>
              <a:t>Exploring creativity</a:t>
            </a:r>
          </a:p>
        </p:txBody>
      </p:sp>
      <p:sp>
        <p:nvSpPr>
          <p:cNvPr name="TextBox 31" id="31"/>
          <p:cNvSpPr txBox="true"/>
          <p:nvPr/>
        </p:nvSpPr>
        <p:spPr>
          <a:xfrm rot="0">
            <a:off x="12102381" y="4523717"/>
            <a:ext cx="2628856" cy="1368261"/>
          </a:xfrm>
          <a:prstGeom prst="rect">
            <a:avLst/>
          </a:prstGeom>
        </p:spPr>
        <p:txBody>
          <a:bodyPr anchor="t" rtlCol="false" tIns="0" lIns="0" bIns="0" rIns="0">
            <a:spAutoFit/>
          </a:bodyPr>
          <a:lstStyle/>
          <a:p>
            <a:pPr algn="l">
              <a:lnSpc>
                <a:spcPts val="10157"/>
              </a:lnSpc>
            </a:pPr>
            <a:r>
              <a:rPr lang="en-US" b="true" sz="10806" spc="-529">
                <a:solidFill>
                  <a:srgbClr val="EFEFEF"/>
                </a:solidFill>
                <a:latin typeface="TT Hoves Bold"/>
                <a:ea typeface="TT Hoves Bold"/>
                <a:cs typeface="TT Hoves Bold"/>
                <a:sym typeface="TT Hoves Bold"/>
              </a:rPr>
              <a:t>05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126789" y="-2986203"/>
            <a:ext cx="7624730" cy="7624730"/>
          </a:xfrm>
          <a:custGeom>
            <a:avLst/>
            <a:gdLst/>
            <a:ahLst/>
            <a:cxnLst/>
            <a:rect r="r" b="b" t="t" l="l"/>
            <a:pathLst>
              <a:path h="7624730" w="7624730">
                <a:moveTo>
                  <a:pt x="0" y="0"/>
                </a:moveTo>
                <a:lnTo>
                  <a:pt x="7624731" y="0"/>
                </a:lnTo>
                <a:lnTo>
                  <a:pt x="7624731" y="7624731"/>
                </a:lnTo>
                <a:lnTo>
                  <a:pt x="0" y="7624731"/>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109612" y="-666477"/>
            <a:ext cx="7178388" cy="11878896"/>
            <a:chOff x="0" y="0"/>
            <a:chExt cx="1890604" cy="3128598"/>
          </a:xfrm>
        </p:grpSpPr>
        <p:sp>
          <p:nvSpPr>
            <p:cNvPr name="Freeform 4" id="4"/>
            <p:cNvSpPr/>
            <p:nvPr/>
          </p:nvSpPr>
          <p:spPr>
            <a:xfrm flipH="false" flipV="false" rot="0">
              <a:off x="0" y="0"/>
              <a:ext cx="1890604" cy="3128598"/>
            </a:xfrm>
            <a:custGeom>
              <a:avLst/>
              <a:gdLst/>
              <a:ahLst/>
              <a:cxnLst/>
              <a:rect r="r" b="b" t="t" l="l"/>
              <a:pathLst>
                <a:path h="3128598" w="1890604">
                  <a:moveTo>
                    <a:pt x="0" y="0"/>
                  </a:moveTo>
                  <a:lnTo>
                    <a:pt x="1890604" y="0"/>
                  </a:lnTo>
                  <a:lnTo>
                    <a:pt x="1890604" y="3128598"/>
                  </a:lnTo>
                  <a:lnTo>
                    <a:pt x="0" y="3128598"/>
                  </a:lnTo>
                  <a:close/>
                </a:path>
              </a:pathLst>
            </a:custGeom>
            <a:solidFill>
              <a:srgbClr val="0003FF"/>
            </a:solidFill>
          </p:spPr>
        </p:sp>
        <p:sp>
          <p:nvSpPr>
            <p:cNvPr name="TextBox 5" id="5"/>
            <p:cNvSpPr txBox="true"/>
            <p:nvPr/>
          </p:nvSpPr>
          <p:spPr>
            <a:xfrm>
              <a:off x="0" y="-57150"/>
              <a:ext cx="1890604" cy="318574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685577" y="5143500"/>
            <a:ext cx="4643300" cy="3202180"/>
          </a:xfrm>
          <a:custGeom>
            <a:avLst/>
            <a:gdLst/>
            <a:ahLst/>
            <a:cxnLst/>
            <a:rect r="r" b="b" t="t" l="l"/>
            <a:pathLst>
              <a:path h="3202180" w="4643300">
                <a:moveTo>
                  <a:pt x="0" y="0"/>
                </a:moveTo>
                <a:lnTo>
                  <a:pt x="4643300" y="0"/>
                </a:lnTo>
                <a:lnTo>
                  <a:pt x="4643300" y="3202180"/>
                </a:lnTo>
                <a:lnTo>
                  <a:pt x="0" y="3202180"/>
                </a:lnTo>
                <a:lnTo>
                  <a:pt x="0" y="0"/>
                </a:lnTo>
                <a:close/>
              </a:path>
            </a:pathLst>
          </a:custGeom>
          <a:blipFill>
            <a:blip r:embed="rId4"/>
            <a:stretch>
              <a:fillRect l="0" t="0" r="0" b="0"/>
            </a:stretch>
          </a:blipFill>
        </p:spPr>
      </p:sp>
      <p:sp>
        <p:nvSpPr>
          <p:cNvPr name="Freeform 7" id="7"/>
          <p:cNvSpPr/>
          <p:nvPr/>
        </p:nvSpPr>
        <p:spPr>
          <a:xfrm flipH="false" flipV="false" rot="0">
            <a:off x="5710219" y="6582915"/>
            <a:ext cx="5018050" cy="3202180"/>
          </a:xfrm>
          <a:custGeom>
            <a:avLst/>
            <a:gdLst/>
            <a:ahLst/>
            <a:cxnLst/>
            <a:rect r="r" b="b" t="t" l="l"/>
            <a:pathLst>
              <a:path h="3202180" w="5018050">
                <a:moveTo>
                  <a:pt x="0" y="0"/>
                </a:moveTo>
                <a:lnTo>
                  <a:pt x="5018050" y="0"/>
                </a:lnTo>
                <a:lnTo>
                  <a:pt x="5018050" y="3202180"/>
                </a:lnTo>
                <a:lnTo>
                  <a:pt x="0" y="3202180"/>
                </a:lnTo>
                <a:lnTo>
                  <a:pt x="0" y="0"/>
                </a:lnTo>
                <a:close/>
              </a:path>
            </a:pathLst>
          </a:custGeom>
          <a:blipFill>
            <a:blip r:embed="rId5"/>
            <a:stretch>
              <a:fillRect l="0" t="0" r="0" b="0"/>
            </a:stretch>
          </a:blipFill>
        </p:spPr>
      </p:sp>
      <p:sp>
        <p:nvSpPr>
          <p:cNvPr name="TextBox 8" id="8"/>
          <p:cNvSpPr txBox="true"/>
          <p:nvPr/>
        </p:nvSpPr>
        <p:spPr>
          <a:xfrm rot="0">
            <a:off x="1671343" y="1075361"/>
            <a:ext cx="7315066" cy="3379342"/>
          </a:xfrm>
          <a:prstGeom prst="rect">
            <a:avLst/>
          </a:prstGeom>
        </p:spPr>
        <p:txBody>
          <a:bodyPr anchor="t" rtlCol="false" tIns="0" lIns="0" bIns="0" rIns="0">
            <a:spAutoFit/>
          </a:bodyPr>
          <a:lstStyle/>
          <a:p>
            <a:pPr algn="just">
              <a:lnSpc>
                <a:spcPts val="12900"/>
              </a:lnSpc>
            </a:pPr>
            <a:r>
              <a:rPr lang="en-US" b="true" sz="13299" spc="-638">
                <a:solidFill>
                  <a:srgbClr val="343434"/>
                </a:solidFill>
                <a:latin typeface="TT Hoves Bold"/>
                <a:ea typeface="TT Hoves Bold"/>
                <a:cs typeface="TT Hoves Bold"/>
                <a:sym typeface="TT Hoves Bold"/>
              </a:rPr>
              <a:t>Circuit </a:t>
            </a:r>
          </a:p>
          <a:p>
            <a:pPr algn="just">
              <a:lnSpc>
                <a:spcPts val="12900"/>
              </a:lnSpc>
            </a:pPr>
            <a:r>
              <a:rPr lang="en-US" b="true" sz="13299" spc="-638">
                <a:solidFill>
                  <a:srgbClr val="343434"/>
                </a:solidFill>
                <a:latin typeface="TT Hoves Bold"/>
                <a:ea typeface="TT Hoves Bold"/>
                <a:cs typeface="TT Hoves Bold"/>
                <a:sym typeface="TT Hoves Bold"/>
              </a:rPr>
              <a:t>Diagram</a:t>
            </a:r>
          </a:p>
        </p:txBody>
      </p:sp>
      <p:sp>
        <p:nvSpPr>
          <p:cNvPr name="TextBox 9" id="9"/>
          <p:cNvSpPr txBox="true"/>
          <p:nvPr/>
        </p:nvSpPr>
        <p:spPr>
          <a:xfrm rot="-5400000">
            <a:off x="15959685" y="8154051"/>
            <a:ext cx="3117321" cy="448311"/>
          </a:xfrm>
          <a:prstGeom prst="rect">
            <a:avLst/>
          </a:prstGeom>
        </p:spPr>
        <p:txBody>
          <a:bodyPr anchor="t" rtlCol="false" tIns="0" lIns="0" bIns="0" rIns="0">
            <a:spAutoFit/>
          </a:bodyPr>
          <a:lstStyle/>
          <a:p>
            <a:pPr algn="just">
              <a:lnSpc>
                <a:spcPts val="3639"/>
              </a:lnSpc>
              <a:spcBef>
                <a:spcPct val="0"/>
              </a:spcBef>
            </a:pPr>
            <a:r>
              <a:rPr lang="en-US" sz="2599">
                <a:solidFill>
                  <a:srgbClr val="EFEFEF"/>
                </a:solidFill>
                <a:latin typeface="TT Hoves"/>
                <a:ea typeface="TT Hoves"/>
                <a:cs typeface="TT Hoves"/>
                <a:sym typeface="TT Hoves"/>
              </a:rPr>
              <a:t>Thynk Unlimited</a:t>
            </a:r>
          </a:p>
        </p:txBody>
      </p:sp>
      <p:sp>
        <p:nvSpPr>
          <p:cNvPr name="TextBox 10" id="10"/>
          <p:cNvSpPr txBox="true"/>
          <p:nvPr/>
        </p:nvSpPr>
        <p:spPr>
          <a:xfrm rot="-5400000">
            <a:off x="15959685" y="2386223"/>
            <a:ext cx="3117321" cy="448311"/>
          </a:xfrm>
          <a:prstGeom prst="rect">
            <a:avLst/>
          </a:prstGeom>
        </p:spPr>
        <p:txBody>
          <a:bodyPr anchor="t" rtlCol="false" tIns="0" lIns="0" bIns="0" rIns="0">
            <a:spAutoFit/>
          </a:bodyPr>
          <a:lstStyle/>
          <a:p>
            <a:pPr algn="r">
              <a:lnSpc>
                <a:spcPts val="3639"/>
              </a:lnSpc>
              <a:spcBef>
                <a:spcPct val="0"/>
              </a:spcBef>
            </a:pPr>
            <a:r>
              <a:rPr lang="en-US" sz="2599">
                <a:solidFill>
                  <a:srgbClr val="EFEFEF"/>
                </a:solidFill>
                <a:latin typeface="TT Hoves"/>
                <a:ea typeface="TT Hoves"/>
                <a:cs typeface="TT Hoves"/>
                <a:sym typeface="TT Hoves"/>
              </a:rPr>
              <a:t>Presentation 2024</a:t>
            </a:r>
          </a:p>
        </p:txBody>
      </p:sp>
      <p:sp>
        <p:nvSpPr>
          <p:cNvPr name="TextBox 11" id="11"/>
          <p:cNvSpPr txBox="true"/>
          <p:nvPr/>
        </p:nvSpPr>
        <p:spPr>
          <a:xfrm rot="-5400000">
            <a:off x="16815216" y="5270137"/>
            <a:ext cx="1406261" cy="448311"/>
          </a:xfrm>
          <a:prstGeom prst="rect">
            <a:avLst/>
          </a:prstGeom>
        </p:spPr>
        <p:txBody>
          <a:bodyPr anchor="t" rtlCol="false" tIns="0" lIns="0" bIns="0" rIns="0">
            <a:spAutoFit/>
          </a:bodyPr>
          <a:lstStyle/>
          <a:p>
            <a:pPr algn="ctr">
              <a:lnSpc>
                <a:spcPts val="3639"/>
              </a:lnSpc>
              <a:spcBef>
                <a:spcPct val="0"/>
              </a:spcBef>
            </a:pPr>
            <a:r>
              <a:rPr lang="en-US" sz="2599">
                <a:solidFill>
                  <a:srgbClr val="EFEFEF"/>
                </a:solidFill>
                <a:latin typeface="TT Hoves"/>
                <a:ea typeface="TT Hoves"/>
                <a:cs typeface="TT Hoves"/>
                <a:sym typeface="TT Hoves"/>
              </a:rPr>
              <a:t>-</a:t>
            </a:r>
          </a:p>
        </p:txBody>
      </p:sp>
      <p:sp>
        <p:nvSpPr>
          <p:cNvPr name="TextBox 12" id="12"/>
          <p:cNvSpPr txBox="true"/>
          <p:nvPr/>
        </p:nvSpPr>
        <p:spPr>
          <a:xfrm rot="0">
            <a:off x="10080136" y="7130873"/>
            <a:ext cx="6265091" cy="4832876"/>
          </a:xfrm>
          <a:prstGeom prst="rect">
            <a:avLst/>
          </a:prstGeom>
        </p:spPr>
        <p:txBody>
          <a:bodyPr anchor="t" rtlCol="false" tIns="0" lIns="0" bIns="0" rIns="0">
            <a:spAutoFit/>
          </a:bodyPr>
          <a:lstStyle/>
          <a:p>
            <a:pPr algn="ctr">
              <a:lnSpc>
                <a:spcPts val="35614"/>
              </a:lnSpc>
            </a:pPr>
            <a:r>
              <a:rPr lang="en-US" b="true" sz="37888" spc="-1856">
                <a:solidFill>
                  <a:srgbClr val="EFEFEF"/>
                </a:solidFill>
                <a:latin typeface="TT Hoves Bold"/>
                <a:ea typeface="TT Hoves Bold"/>
                <a:cs typeface="TT Hoves Bold"/>
                <a:sym typeface="TT Hoves Bold"/>
              </a:rPr>
              <a:t>08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2823805" y="5974763"/>
            <a:ext cx="7624730" cy="7624730"/>
          </a:xfrm>
          <a:custGeom>
            <a:avLst/>
            <a:gdLst/>
            <a:ahLst/>
            <a:cxnLst/>
            <a:rect r="r" b="b" t="t" l="l"/>
            <a:pathLst>
              <a:path h="7624730" w="7624730">
                <a:moveTo>
                  <a:pt x="0" y="0"/>
                </a:moveTo>
                <a:lnTo>
                  <a:pt x="7624731" y="0"/>
                </a:lnTo>
                <a:lnTo>
                  <a:pt x="7624731" y="7624730"/>
                </a:lnTo>
                <a:lnTo>
                  <a:pt x="0" y="762473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822665" y="-795948"/>
            <a:ext cx="7178388" cy="11878896"/>
            <a:chOff x="0" y="0"/>
            <a:chExt cx="1890604" cy="3128598"/>
          </a:xfrm>
        </p:grpSpPr>
        <p:sp>
          <p:nvSpPr>
            <p:cNvPr name="Freeform 4" id="4"/>
            <p:cNvSpPr/>
            <p:nvPr/>
          </p:nvSpPr>
          <p:spPr>
            <a:xfrm flipH="false" flipV="false" rot="0">
              <a:off x="0" y="0"/>
              <a:ext cx="1890604" cy="3128598"/>
            </a:xfrm>
            <a:custGeom>
              <a:avLst/>
              <a:gdLst/>
              <a:ahLst/>
              <a:cxnLst/>
              <a:rect r="r" b="b" t="t" l="l"/>
              <a:pathLst>
                <a:path h="3128598" w="1890604">
                  <a:moveTo>
                    <a:pt x="0" y="0"/>
                  </a:moveTo>
                  <a:lnTo>
                    <a:pt x="1890604" y="0"/>
                  </a:lnTo>
                  <a:lnTo>
                    <a:pt x="1890604" y="3128598"/>
                  </a:lnTo>
                  <a:lnTo>
                    <a:pt x="0" y="3128598"/>
                  </a:lnTo>
                  <a:close/>
                </a:path>
              </a:pathLst>
            </a:custGeom>
            <a:solidFill>
              <a:srgbClr val="0003FF"/>
            </a:solidFill>
          </p:spPr>
        </p:sp>
        <p:sp>
          <p:nvSpPr>
            <p:cNvPr name="TextBox 5" id="5"/>
            <p:cNvSpPr txBox="true"/>
            <p:nvPr/>
          </p:nvSpPr>
          <p:spPr>
            <a:xfrm>
              <a:off x="0" y="-57150"/>
              <a:ext cx="1890604" cy="3185748"/>
            </a:xfrm>
            <a:prstGeom prst="rect">
              <a:avLst/>
            </a:prstGeom>
          </p:spPr>
          <p:txBody>
            <a:bodyPr anchor="ctr" rtlCol="false" tIns="50800" lIns="50800" bIns="50800" rIns="50800"/>
            <a:lstStyle/>
            <a:p>
              <a:pPr algn="ctr">
                <a:lnSpc>
                  <a:spcPts val="3639"/>
                </a:lnSpc>
              </a:pPr>
            </a:p>
          </p:txBody>
        </p:sp>
      </p:grpSp>
      <p:sp>
        <p:nvSpPr>
          <p:cNvPr name="TextBox 6" id="6"/>
          <p:cNvSpPr txBox="true"/>
          <p:nvPr/>
        </p:nvSpPr>
        <p:spPr>
          <a:xfrm rot="-5400000">
            <a:off x="-1838012" y="3417252"/>
            <a:ext cx="10287000" cy="3452494"/>
          </a:xfrm>
          <a:prstGeom prst="rect">
            <a:avLst/>
          </a:prstGeom>
        </p:spPr>
        <p:txBody>
          <a:bodyPr anchor="t" rtlCol="false" tIns="0" lIns="0" bIns="0" rIns="0">
            <a:spAutoFit/>
          </a:bodyPr>
          <a:lstStyle/>
          <a:p>
            <a:pPr algn="l">
              <a:lnSpc>
                <a:spcPts val="13299"/>
              </a:lnSpc>
            </a:pPr>
            <a:r>
              <a:rPr lang="en-US" sz="13299" spc="-638" b="true">
                <a:solidFill>
                  <a:srgbClr val="EFEFEF"/>
                </a:solidFill>
                <a:latin typeface="TT Hoves Bold"/>
                <a:ea typeface="TT Hoves Bold"/>
                <a:cs typeface="TT Hoves Bold"/>
                <a:sym typeface="TT Hoves Bold"/>
              </a:rPr>
              <a:t>Components and Software</a:t>
            </a:r>
          </a:p>
        </p:txBody>
      </p:sp>
      <p:sp>
        <p:nvSpPr>
          <p:cNvPr name="TextBox 7" id="7"/>
          <p:cNvSpPr txBox="true"/>
          <p:nvPr/>
        </p:nvSpPr>
        <p:spPr>
          <a:xfrm rot="0">
            <a:off x="-707284" y="-253023"/>
            <a:ext cx="3677731" cy="2845012"/>
          </a:xfrm>
          <a:prstGeom prst="rect">
            <a:avLst/>
          </a:prstGeom>
        </p:spPr>
        <p:txBody>
          <a:bodyPr anchor="t" rtlCol="false" tIns="0" lIns="0" bIns="0" rIns="0">
            <a:spAutoFit/>
          </a:bodyPr>
          <a:lstStyle/>
          <a:p>
            <a:pPr algn="l">
              <a:lnSpc>
                <a:spcPts val="20906"/>
              </a:lnSpc>
            </a:pPr>
            <a:r>
              <a:rPr lang="en-US" b="true" sz="22241" spc="-1089">
                <a:solidFill>
                  <a:srgbClr val="EFEFEF"/>
                </a:solidFill>
                <a:latin typeface="TT Hoves Bold"/>
                <a:ea typeface="TT Hoves Bold"/>
                <a:cs typeface="TT Hoves Bold"/>
                <a:sym typeface="TT Hoves Bold"/>
              </a:rPr>
              <a:t>09</a:t>
            </a:r>
          </a:p>
        </p:txBody>
      </p:sp>
      <p:sp>
        <p:nvSpPr>
          <p:cNvPr name="TextBox 8" id="8"/>
          <p:cNvSpPr txBox="true"/>
          <p:nvPr/>
        </p:nvSpPr>
        <p:spPr>
          <a:xfrm rot="0">
            <a:off x="7358519" y="2097992"/>
            <a:ext cx="4609698" cy="6794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Components:</a:t>
            </a:r>
          </a:p>
        </p:txBody>
      </p:sp>
      <p:sp>
        <p:nvSpPr>
          <p:cNvPr name="TextBox 9" id="9"/>
          <p:cNvSpPr txBox="true"/>
          <p:nvPr/>
        </p:nvSpPr>
        <p:spPr>
          <a:xfrm rot="0">
            <a:off x="7358519" y="2901267"/>
            <a:ext cx="2646492" cy="2985516"/>
          </a:xfrm>
          <a:prstGeom prst="rect">
            <a:avLst/>
          </a:prstGeom>
        </p:spPr>
        <p:txBody>
          <a:bodyPr anchor="t" rtlCol="false" tIns="0" lIns="0" bIns="0" rIns="0">
            <a:spAutoFit/>
          </a:bodyPr>
          <a:lstStyle/>
          <a:p>
            <a:pPr algn="just" marL="474979" indent="-237490" lvl="1">
              <a:lnSpc>
                <a:spcPts val="3431"/>
              </a:lnSpc>
              <a:buFont typeface="Arial"/>
              <a:buChar char="•"/>
            </a:pPr>
            <a:r>
              <a:rPr lang="en-US" sz="2199">
                <a:solidFill>
                  <a:srgbClr val="343434"/>
                </a:solidFill>
                <a:latin typeface="TT Hoves"/>
                <a:ea typeface="TT Hoves"/>
                <a:cs typeface="TT Hoves"/>
                <a:sym typeface="TT Hoves"/>
              </a:rPr>
              <a:t>ESP32</a:t>
            </a:r>
            <a:r>
              <a:rPr lang="en-US" sz="2199">
                <a:solidFill>
                  <a:srgbClr val="343434"/>
                </a:solidFill>
                <a:latin typeface="TT Hoves"/>
                <a:ea typeface="TT Hoves"/>
                <a:cs typeface="TT Hoves"/>
                <a:sym typeface="TT Hoves"/>
              </a:rPr>
              <a:t> (38-pin)</a:t>
            </a:r>
          </a:p>
          <a:p>
            <a:pPr algn="just" marL="474979" indent="-237490" lvl="1">
              <a:lnSpc>
                <a:spcPts val="3431"/>
              </a:lnSpc>
              <a:buFont typeface="Arial"/>
              <a:buChar char="•"/>
            </a:pPr>
            <a:r>
              <a:rPr lang="en-US" sz="2199">
                <a:solidFill>
                  <a:srgbClr val="343434"/>
                </a:solidFill>
                <a:latin typeface="TT Hoves"/>
                <a:ea typeface="TT Hoves"/>
                <a:cs typeface="TT Hoves"/>
                <a:sym typeface="TT Hoves"/>
              </a:rPr>
              <a:t>LEDs (5)</a:t>
            </a:r>
          </a:p>
          <a:p>
            <a:pPr algn="just" marL="474979" indent="-237490" lvl="1">
              <a:lnSpc>
                <a:spcPts val="3431"/>
              </a:lnSpc>
              <a:buFont typeface="Arial"/>
              <a:buChar char="•"/>
            </a:pPr>
            <a:r>
              <a:rPr lang="en-US" sz="2199">
                <a:solidFill>
                  <a:srgbClr val="343434"/>
                </a:solidFill>
                <a:latin typeface="TT Hoves"/>
                <a:ea typeface="TT Hoves"/>
                <a:cs typeface="TT Hoves"/>
                <a:sym typeface="TT Hoves"/>
              </a:rPr>
              <a:t>Resistors (1kΩ)</a:t>
            </a:r>
          </a:p>
          <a:p>
            <a:pPr algn="just" marL="474979" indent="-237490" lvl="1">
              <a:lnSpc>
                <a:spcPts val="3431"/>
              </a:lnSpc>
              <a:buFont typeface="Arial"/>
              <a:buChar char="•"/>
            </a:pPr>
            <a:r>
              <a:rPr lang="en-US" sz="2199">
                <a:solidFill>
                  <a:srgbClr val="343434"/>
                </a:solidFill>
                <a:latin typeface="TT Hoves"/>
                <a:ea typeface="TT Hoves"/>
                <a:cs typeface="TT Hoves"/>
                <a:sym typeface="TT Hoves"/>
              </a:rPr>
              <a:t>Breadboard</a:t>
            </a:r>
          </a:p>
          <a:p>
            <a:pPr algn="just" marL="474979" indent="-237490" lvl="1">
              <a:lnSpc>
                <a:spcPts val="3431"/>
              </a:lnSpc>
              <a:buFont typeface="Arial"/>
              <a:buChar char="•"/>
            </a:pPr>
            <a:r>
              <a:rPr lang="en-US" sz="2199">
                <a:solidFill>
                  <a:srgbClr val="343434"/>
                </a:solidFill>
                <a:latin typeface="TT Hoves"/>
                <a:ea typeface="TT Hoves"/>
                <a:cs typeface="TT Hoves"/>
                <a:sym typeface="TT Hoves"/>
              </a:rPr>
              <a:t>Jumper wires</a:t>
            </a:r>
          </a:p>
          <a:p>
            <a:pPr algn="just" marL="474979" indent="-237490" lvl="1">
              <a:lnSpc>
                <a:spcPts val="3431"/>
              </a:lnSpc>
              <a:buFont typeface="Arial"/>
              <a:buChar char="•"/>
            </a:pPr>
            <a:r>
              <a:rPr lang="en-US" sz="2199">
                <a:solidFill>
                  <a:srgbClr val="343434"/>
                </a:solidFill>
                <a:latin typeface="TT Hoves"/>
                <a:ea typeface="TT Hoves"/>
                <a:cs typeface="TT Hoves"/>
                <a:sym typeface="TT Hoves"/>
              </a:rPr>
              <a:t>Laptop</a:t>
            </a:r>
          </a:p>
          <a:p>
            <a:pPr algn="just">
              <a:lnSpc>
                <a:spcPts val="3431"/>
              </a:lnSpc>
            </a:pPr>
          </a:p>
        </p:txBody>
      </p:sp>
      <p:sp>
        <p:nvSpPr>
          <p:cNvPr name="TextBox 10" id="10"/>
          <p:cNvSpPr txBox="true"/>
          <p:nvPr/>
        </p:nvSpPr>
        <p:spPr>
          <a:xfrm rot="0">
            <a:off x="13103723" y="2097992"/>
            <a:ext cx="3398572" cy="1974851"/>
          </a:xfrm>
          <a:prstGeom prst="rect">
            <a:avLst/>
          </a:prstGeom>
        </p:spPr>
        <p:txBody>
          <a:bodyPr anchor="t" rtlCol="false" tIns="0" lIns="0" bIns="0" rIns="0">
            <a:spAutoFit/>
          </a:bodyPr>
          <a:lstStyle/>
          <a:p>
            <a:pPr algn="just">
              <a:lnSpc>
                <a:spcPts val="5150"/>
              </a:lnSpc>
            </a:pPr>
            <a:r>
              <a:rPr lang="en-US" b="true" sz="5000">
                <a:solidFill>
                  <a:srgbClr val="343434"/>
                </a:solidFill>
                <a:latin typeface="TT Hoves Bold"/>
                <a:ea typeface="TT Hoves Bold"/>
                <a:cs typeface="TT Hoves Bold"/>
                <a:sym typeface="TT Hoves Bold"/>
              </a:rPr>
              <a:t>Software and Libraries</a:t>
            </a:r>
          </a:p>
        </p:txBody>
      </p:sp>
      <p:sp>
        <p:nvSpPr>
          <p:cNvPr name="TextBox 11" id="11"/>
          <p:cNvSpPr txBox="true"/>
          <p:nvPr/>
        </p:nvSpPr>
        <p:spPr>
          <a:xfrm rot="0">
            <a:off x="13103723" y="4351163"/>
            <a:ext cx="2747991" cy="4271391"/>
          </a:xfrm>
          <a:prstGeom prst="rect">
            <a:avLst/>
          </a:prstGeom>
        </p:spPr>
        <p:txBody>
          <a:bodyPr anchor="t" rtlCol="false" tIns="0" lIns="0" bIns="0" rIns="0">
            <a:spAutoFit/>
          </a:bodyPr>
          <a:lstStyle/>
          <a:p>
            <a:pPr algn="just">
              <a:lnSpc>
                <a:spcPts val="3431"/>
              </a:lnSpc>
            </a:pPr>
            <a:r>
              <a:rPr lang="en-US" sz="2199">
                <a:solidFill>
                  <a:srgbClr val="343434"/>
                </a:solidFill>
                <a:latin typeface="TT Hoves"/>
                <a:ea typeface="TT Hoves"/>
                <a:cs typeface="TT Hoves"/>
                <a:sym typeface="TT Hoves"/>
              </a:rPr>
              <a:t>🔸 </a:t>
            </a:r>
            <a:r>
              <a:rPr lang="en-US" sz="2199">
                <a:solidFill>
                  <a:srgbClr val="343434"/>
                </a:solidFill>
                <a:latin typeface="TT Hoves"/>
                <a:ea typeface="TT Hoves"/>
                <a:cs typeface="TT Hoves"/>
                <a:sym typeface="TT Hoves"/>
              </a:rPr>
              <a:t>S</a:t>
            </a:r>
            <a:r>
              <a:rPr lang="en-US" sz="2199">
                <a:solidFill>
                  <a:srgbClr val="343434"/>
                </a:solidFill>
                <a:latin typeface="TT Hoves"/>
                <a:ea typeface="TT Hoves"/>
                <a:cs typeface="TT Hoves"/>
                <a:sym typeface="TT Hoves"/>
              </a:rPr>
              <a:t>oftware:</a:t>
            </a:r>
          </a:p>
          <a:p>
            <a:pPr algn="just" marL="474979" indent="-237490" lvl="1">
              <a:lnSpc>
                <a:spcPts val="3431"/>
              </a:lnSpc>
              <a:buFont typeface="Arial"/>
              <a:buChar char="•"/>
            </a:pPr>
            <a:r>
              <a:rPr lang="en-US" sz="2199">
                <a:solidFill>
                  <a:srgbClr val="343434"/>
                </a:solidFill>
                <a:latin typeface="TT Hoves"/>
                <a:ea typeface="TT Hoves"/>
                <a:cs typeface="TT Hoves"/>
                <a:sym typeface="TT Hoves"/>
              </a:rPr>
              <a:t>Python</a:t>
            </a:r>
          </a:p>
          <a:p>
            <a:pPr algn="just" marL="474979" indent="-237490" lvl="1">
              <a:lnSpc>
                <a:spcPts val="3431"/>
              </a:lnSpc>
              <a:buFont typeface="Arial"/>
              <a:buChar char="•"/>
            </a:pPr>
            <a:r>
              <a:rPr lang="en-US" sz="2199">
                <a:solidFill>
                  <a:srgbClr val="343434"/>
                </a:solidFill>
                <a:latin typeface="TT Hoves"/>
                <a:ea typeface="TT Hoves"/>
                <a:cs typeface="TT Hoves"/>
                <a:sym typeface="TT Hoves"/>
              </a:rPr>
              <a:t>Arduino IDE</a:t>
            </a:r>
          </a:p>
          <a:p>
            <a:pPr algn="just">
              <a:lnSpc>
                <a:spcPts val="3431"/>
              </a:lnSpc>
            </a:pPr>
            <a:r>
              <a:rPr lang="en-US" sz="2199">
                <a:solidFill>
                  <a:srgbClr val="343434"/>
                </a:solidFill>
                <a:latin typeface="TT Hoves"/>
                <a:ea typeface="TT Hoves"/>
                <a:cs typeface="TT Hoves"/>
                <a:sym typeface="TT Hoves"/>
              </a:rPr>
              <a:t>🔸 Libraries:</a:t>
            </a:r>
          </a:p>
          <a:p>
            <a:pPr algn="just" marL="474979" indent="-237490" lvl="1">
              <a:lnSpc>
                <a:spcPts val="3431"/>
              </a:lnSpc>
              <a:buFont typeface="Arial"/>
              <a:buChar char="•"/>
            </a:pPr>
            <a:r>
              <a:rPr lang="en-US" sz="2199">
                <a:solidFill>
                  <a:srgbClr val="343434"/>
                </a:solidFill>
                <a:latin typeface="TT Hoves"/>
                <a:ea typeface="TT Hoves"/>
                <a:cs typeface="TT Hoves"/>
                <a:sym typeface="TT Hoves"/>
              </a:rPr>
              <a:t>OpenCV</a:t>
            </a:r>
          </a:p>
          <a:p>
            <a:pPr algn="just" marL="474979" indent="-237490" lvl="1">
              <a:lnSpc>
                <a:spcPts val="3431"/>
              </a:lnSpc>
              <a:buFont typeface="Arial"/>
              <a:buChar char="•"/>
            </a:pPr>
            <a:r>
              <a:rPr lang="en-US" sz="2199">
                <a:solidFill>
                  <a:srgbClr val="343434"/>
                </a:solidFill>
                <a:latin typeface="TT Hoves"/>
                <a:ea typeface="TT Hoves"/>
                <a:cs typeface="TT Hoves"/>
                <a:sym typeface="TT Hoves"/>
              </a:rPr>
              <a:t>MediaPipe</a:t>
            </a:r>
          </a:p>
          <a:p>
            <a:pPr algn="just" marL="474979" indent="-237490" lvl="1">
              <a:lnSpc>
                <a:spcPts val="3431"/>
              </a:lnSpc>
              <a:buFont typeface="Arial"/>
              <a:buChar char="•"/>
            </a:pPr>
            <a:r>
              <a:rPr lang="en-US" sz="2199">
                <a:solidFill>
                  <a:srgbClr val="343434"/>
                </a:solidFill>
                <a:latin typeface="TT Hoves"/>
                <a:ea typeface="TT Hoves"/>
                <a:cs typeface="TT Hoves"/>
                <a:sym typeface="TT Hoves"/>
              </a:rPr>
              <a:t>Requests</a:t>
            </a:r>
          </a:p>
          <a:p>
            <a:pPr algn="just" marL="474979" indent="-237490" lvl="1">
              <a:lnSpc>
                <a:spcPts val="3431"/>
              </a:lnSpc>
              <a:buFont typeface="Arial"/>
              <a:buChar char="•"/>
            </a:pPr>
            <a:r>
              <a:rPr lang="en-US" sz="2199">
                <a:solidFill>
                  <a:srgbClr val="343434"/>
                </a:solidFill>
                <a:latin typeface="TT Hoves"/>
                <a:ea typeface="TT Hoves"/>
                <a:cs typeface="TT Hoves"/>
                <a:sym typeface="TT Hoves"/>
              </a:rPr>
              <a:t>ESPAsyncWebServer</a:t>
            </a:r>
          </a:p>
          <a:p>
            <a:pPr algn="just">
              <a:lnSpc>
                <a:spcPts val="3431"/>
              </a:lnSpc>
            </a:pPr>
          </a:p>
        </p:txBody>
      </p:sp>
      <p:sp>
        <p:nvSpPr>
          <p:cNvPr name="Freeform 12" id="12"/>
          <p:cNvSpPr/>
          <p:nvPr/>
        </p:nvSpPr>
        <p:spPr>
          <a:xfrm flipH="false" flipV="false" rot="0">
            <a:off x="12823805" y="5974763"/>
            <a:ext cx="7624730" cy="7624730"/>
          </a:xfrm>
          <a:custGeom>
            <a:avLst/>
            <a:gdLst/>
            <a:ahLst/>
            <a:cxnLst/>
            <a:rect r="r" b="b" t="t" l="l"/>
            <a:pathLst>
              <a:path h="7624730" w="7624730">
                <a:moveTo>
                  <a:pt x="0" y="0"/>
                </a:moveTo>
                <a:lnTo>
                  <a:pt x="7624731" y="0"/>
                </a:lnTo>
                <a:lnTo>
                  <a:pt x="7624731" y="7624730"/>
                </a:lnTo>
                <a:lnTo>
                  <a:pt x="0" y="762473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6898774" y="2154593"/>
            <a:ext cx="273982" cy="245024"/>
            <a:chOff x="0" y="0"/>
            <a:chExt cx="91718" cy="82024"/>
          </a:xfrm>
        </p:grpSpPr>
        <p:sp>
          <p:nvSpPr>
            <p:cNvPr name="Freeform 14" id="14"/>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15" id="15"/>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grpSp>
        <p:nvGrpSpPr>
          <p:cNvPr name="Group 16" id="16"/>
          <p:cNvGrpSpPr/>
          <p:nvPr/>
        </p:nvGrpSpPr>
        <p:grpSpPr>
          <a:xfrm rot="0">
            <a:off x="12686814" y="2154593"/>
            <a:ext cx="273982" cy="245024"/>
            <a:chOff x="0" y="0"/>
            <a:chExt cx="91718" cy="82024"/>
          </a:xfrm>
        </p:grpSpPr>
        <p:sp>
          <p:nvSpPr>
            <p:cNvPr name="Freeform 17" id="17"/>
            <p:cNvSpPr/>
            <p:nvPr/>
          </p:nvSpPr>
          <p:spPr>
            <a:xfrm flipH="false" flipV="false" rot="0">
              <a:off x="0" y="0"/>
              <a:ext cx="91718" cy="82024"/>
            </a:xfrm>
            <a:custGeom>
              <a:avLst/>
              <a:gdLst/>
              <a:ahLst/>
              <a:cxnLst/>
              <a:rect r="r" b="b" t="t" l="l"/>
              <a:pathLst>
                <a:path h="82024" w="91718">
                  <a:moveTo>
                    <a:pt x="0" y="0"/>
                  </a:moveTo>
                  <a:lnTo>
                    <a:pt x="91718" y="0"/>
                  </a:lnTo>
                  <a:lnTo>
                    <a:pt x="91718" y="82024"/>
                  </a:lnTo>
                  <a:lnTo>
                    <a:pt x="0" y="82024"/>
                  </a:lnTo>
                  <a:close/>
                </a:path>
              </a:pathLst>
            </a:custGeom>
            <a:solidFill>
              <a:srgbClr val="0003FF"/>
            </a:solidFill>
          </p:spPr>
        </p:sp>
        <p:sp>
          <p:nvSpPr>
            <p:cNvPr name="TextBox 18" id="18"/>
            <p:cNvSpPr txBox="true"/>
            <p:nvPr/>
          </p:nvSpPr>
          <p:spPr>
            <a:xfrm>
              <a:off x="0" y="85725"/>
              <a:ext cx="91718" cy="82024"/>
            </a:xfrm>
            <a:prstGeom prst="rect">
              <a:avLst/>
            </a:prstGeom>
          </p:spPr>
          <p:txBody>
            <a:bodyPr anchor="ctr" rtlCol="false" tIns="50800" lIns="50800" bIns="50800" rIns="50800"/>
            <a:lstStyle/>
            <a:p>
              <a:pPr algn="ctr">
                <a:lnSpc>
                  <a:spcPts val="1925"/>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03228" y="2265045"/>
            <a:ext cx="13935782" cy="13935782"/>
          </a:xfrm>
          <a:custGeom>
            <a:avLst/>
            <a:gdLst/>
            <a:ahLst/>
            <a:cxnLst/>
            <a:rect r="r" b="b" t="t" l="l"/>
            <a:pathLst>
              <a:path h="13935782" w="13935782">
                <a:moveTo>
                  <a:pt x="0" y="0"/>
                </a:moveTo>
                <a:lnTo>
                  <a:pt x="13935782" y="0"/>
                </a:lnTo>
                <a:lnTo>
                  <a:pt x="13935782" y="13935782"/>
                </a:lnTo>
                <a:lnTo>
                  <a:pt x="0" y="13935782"/>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749000" y="1219200"/>
            <a:ext cx="8510300" cy="2282190"/>
          </a:xfrm>
          <a:prstGeom prst="rect">
            <a:avLst/>
          </a:prstGeom>
        </p:spPr>
        <p:txBody>
          <a:bodyPr anchor="t" rtlCol="false" tIns="0" lIns="0" bIns="0" rIns="0">
            <a:spAutoFit/>
          </a:bodyPr>
          <a:lstStyle/>
          <a:p>
            <a:pPr algn="just">
              <a:lnSpc>
                <a:spcPts val="8730"/>
              </a:lnSpc>
            </a:pPr>
            <a:r>
              <a:rPr lang="en-US" b="true" sz="9000" spc="-432">
                <a:solidFill>
                  <a:srgbClr val="000000"/>
                </a:solidFill>
                <a:latin typeface="TT Hoves Bold"/>
                <a:ea typeface="TT Hoves Bold"/>
                <a:cs typeface="TT Hoves Bold"/>
                <a:sym typeface="TT Hoves Bold"/>
              </a:rPr>
              <a:t>Methodology &amp; Working</a:t>
            </a:r>
          </a:p>
        </p:txBody>
      </p:sp>
      <p:sp>
        <p:nvSpPr>
          <p:cNvPr name="TextBox 4" id="4"/>
          <p:cNvSpPr txBox="true"/>
          <p:nvPr/>
        </p:nvSpPr>
        <p:spPr>
          <a:xfrm rot="0">
            <a:off x="8749000" y="3716532"/>
            <a:ext cx="7707571" cy="3710940"/>
          </a:xfrm>
          <a:prstGeom prst="rect">
            <a:avLst/>
          </a:prstGeom>
        </p:spPr>
        <p:txBody>
          <a:bodyPr anchor="t" rtlCol="false" tIns="0" lIns="0" bIns="0" rIns="0">
            <a:spAutoFit/>
          </a:bodyPr>
          <a:lstStyle/>
          <a:p>
            <a:pPr algn="just" marL="0" indent="0" lvl="0">
              <a:lnSpc>
                <a:spcPts val="2969"/>
              </a:lnSpc>
              <a:spcBef>
                <a:spcPct val="0"/>
              </a:spcBef>
            </a:pPr>
          </a:p>
          <a:p>
            <a:pPr algn="just" marL="474978" indent="-237489" lvl="1">
              <a:lnSpc>
                <a:spcPts val="2969"/>
              </a:lnSpc>
              <a:spcBef>
                <a:spcPct val="0"/>
              </a:spcBef>
              <a:buFont typeface="Arial"/>
              <a:buChar char="•"/>
            </a:pPr>
            <a:r>
              <a:rPr lang="en-US" sz="2199" spc="131" u="none">
                <a:solidFill>
                  <a:srgbClr val="000000"/>
                </a:solidFill>
                <a:latin typeface="TT Hoves"/>
                <a:ea typeface="TT Hoves"/>
                <a:cs typeface="TT Hoves"/>
                <a:sym typeface="TT Hoves"/>
              </a:rPr>
              <a:t>Webcam captures live video</a:t>
            </a:r>
          </a:p>
          <a:p>
            <a:pPr algn="just" marL="474978" indent="-237489" lvl="1">
              <a:lnSpc>
                <a:spcPts val="2969"/>
              </a:lnSpc>
              <a:spcBef>
                <a:spcPct val="0"/>
              </a:spcBef>
              <a:buFont typeface="Arial"/>
              <a:buChar char="•"/>
            </a:pPr>
            <a:r>
              <a:rPr lang="en-US" sz="2199" spc="131" u="none">
                <a:solidFill>
                  <a:srgbClr val="000000"/>
                </a:solidFill>
                <a:latin typeface="TT Hoves"/>
                <a:ea typeface="TT Hoves"/>
                <a:cs typeface="TT Hoves"/>
                <a:sym typeface="TT Hoves"/>
              </a:rPr>
              <a:t>OpenCV processes frames</a:t>
            </a:r>
          </a:p>
          <a:p>
            <a:pPr algn="just" marL="474978" indent="-237489" lvl="1">
              <a:lnSpc>
                <a:spcPts val="2969"/>
              </a:lnSpc>
              <a:spcBef>
                <a:spcPct val="0"/>
              </a:spcBef>
              <a:buFont typeface="Arial"/>
              <a:buChar char="•"/>
            </a:pPr>
            <a:r>
              <a:rPr lang="en-US" sz="2199" spc="131" u="none">
                <a:solidFill>
                  <a:srgbClr val="000000"/>
                </a:solidFill>
                <a:latin typeface="TT Hoves"/>
                <a:ea typeface="TT Hoves"/>
                <a:cs typeface="TT Hoves"/>
                <a:sym typeface="TT Hoves"/>
              </a:rPr>
              <a:t>MediaPipe detects hand landmarks</a:t>
            </a:r>
          </a:p>
          <a:p>
            <a:pPr algn="just" marL="474978" indent="-237489" lvl="1">
              <a:lnSpc>
                <a:spcPts val="2969"/>
              </a:lnSpc>
              <a:spcBef>
                <a:spcPct val="0"/>
              </a:spcBef>
              <a:buFont typeface="Arial"/>
              <a:buChar char="•"/>
            </a:pPr>
            <a:r>
              <a:rPr lang="en-US" sz="2199" spc="131" u="none">
                <a:solidFill>
                  <a:srgbClr val="000000"/>
                </a:solidFill>
                <a:latin typeface="TT Hoves"/>
                <a:ea typeface="TT Hoves"/>
                <a:cs typeface="TT Hoves"/>
                <a:sym typeface="TT Hoves"/>
              </a:rPr>
              <a:t>Finger positions identified (up/down)</a:t>
            </a:r>
          </a:p>
          <a:p>
            <a:pPr algn="just" marL="474978" indent="-237489" lvl="1">
              <a:lnSpc>
                <a:spcPts val="2969"/>
              </a:lnSpc>
              <a:spcBef>
                <a:spcPct val="0"/>
              </a:spcBef>
              <a:buFont typeface="Arial"/>
              <a:buChar char="•"/>
            </a:pPr>
            <a:r>
              <a:rPr lang="en-US" sz="2199" spc="131" u="none">
                <a:solidFill>
                  <a:srgbClr val="000000"/>
                </a:solidFill>
                <a:latin typeface="TT Hoves"/>
                <a:ea typeface="TT Hoves"/>
                <a:cs typeface="TT Hoves"/>
                <a:sym typeface="TT Hoves"/>
              </a:rPr>
              <a:t>Gestures mapped to commands</a:t>
            </a:r>
          </a:p>
          <a:p>
            <a:pPr algn="just" marL="474978" indent="-237489" lvl="1">
              <a:lnSpc>
                <a:spcPts val="2969"/>
              </a:lnSpc>
              <a:spcBef>
                <a:spcPct val="0"/>
              </a:spcBef>
              <a:buFont typeface="Arial"/>
              <a:buChar char="•"/>
            </a:pPr>
            <a:r>
              <a:rPr lang="en-US" sz="2199" spc="131" u="none">
                <a:solidFill>
                  <a:srgbClr val="000000"/>
                </a:solidFill>
                <a:latin typeface="TT Hoves"/>
                <a:ea typeface="TT Hoves"/>
                <a:cs typeface="TT Hoves"/>
                <a:sym typeface="TT Hoves"/>
              </a:rPr>
              <a:t>HTTP requests sent via Wi-Fi</a:t>
            </a:r>
          </a:p>
          <a:p>
            <a:pPr algn="just" marL="474978" indent="-237489" lvl="1">
              <a:lnSpc>
                <a:spcPts val="2969"/>
              </a:lnSpc>
              <a:spcBef>
                <a:spcPct val="0"/>
              </a:spcBef>
              <a:buFont typeface="Arial"/>
              <a:buChar char="•"/>
            </a:pPr>
            <a:r>
              <a:rPr lang="en-US" sz="2199" spc="131" u="none">
                <a:solidFill>
                  <a:srgbClr val="000000"/>
                </a:solidFill>
                <a:latin typeface="TT Hoves"/>
                <a:ea typeface="TT Hoves"/>
                <a:cs typeface="TT Hoves"/>
                <a:sym typeface="TT Hoves"/>
              </a:rPr>
              <a:t>ESP32 receives commands</a:t>
            </a:r>
          </a:p>
          <a:p>
            <a:pPr algn="just" marL="474978" indent="-237489" lvl="1">
              <a:lnSpc>
                <a:spcPts val="2969"/>
              </a:lnSpc>
              <a:spcBef>
                <a:spcPct val="0"/>
              </a:spcBef>
              <a:buFont typeface="Arial"/>
              <a:buChar char="•"/>
            </a:pPr>
            <a:r>
              <a:rPr lang="en-US" sz="2199" spc="131" u="none">
                <a:solidFill>
                  <a:srgbClr val="000000"/>
                </a:solidFill>
                <a:latin typeface="TT Hoves"/>
                <a:ea typeface="TT Hoves"/>
                <a:cs typeface="TT Hoves"/>
                <a:sym typeface="TT Hoves"/>
              </a:rPr>
              <a:t>LEDs controlled accordingly</a:t>
            </a:r>
          </a:p>
          <a:p>
            <a:pPr algn="just" marL="0" indent="0" lvl="0">
              <a:lnSpc>
                <a:spcPts val="2969"/>
              </a:lnSpc>
              <a:spcBef>
                <a:spcPct val="0"/>
              </a:spcBef>
            </a:pPr>
          </a:p>
        </p:txBody>
      </p:sp>
      <p:grpSp>
        <p:nvGrpSpPr>
          <p:cNvPr name="Group 5" id="5"/>
          <p:cNvGrpSpPr/>
          <p:nvPr/>
        </p:nvGrpSpPr>
        <p:grpSpPr>
          <a:xfrm rot="0">
            <a:off x="-103228" y="0"/>
            <a:ext cx="6669372" cy="4817439"/>
            <a:chOff x="0" y="0"/>
            <a:chExt cx="1756542" cy="1268790"/>
          </a:xfrm>
        </p:grpSpPr>
        <p:sp>
          <p:nvSpPr>
            <p:cNvPr name="Freeform 6" id="6"/>
            <p:cNvSpPr/>
            <p:nvPr/>
          </p:nvSpPr>
          <p:spPr>
            <a:xfrm flipH="false" flipV="false" rot="0">
              <a:off x="0" y="0"/>
              <a:ext cx="1756542" cy="1268790"/>
            </a:xfrm>
            <a:custGeom>
              <a:avLst/>
              <a:gdLst/>
              <a:ahLst/>
              <a:cxnLst/>
              <a:rect r="r" b="b" t="t" l="l"/>
              <a:pathLst>
                <a:path h="1268790" w="1756542">
                  <a:moveTo>
                    <a:pt x="0" y="0"/>
                  </a:moveTo>
                  <a:lnTo>
                    <a:pt x="1756542" y="0"/>
                  </a:lnTo>
                  <a:lnTo>
                    <a:pt x="1756542" y="1268790"/>
                  </a:lnTo>
                  <a:lnTo>
                    <a:pt x="0" y="1268790"/>
                  </a:lnTo>
                  <a:close/>
                </a:path>
              </a:pathLst>
            </a:custGeom>
            <a:solidFill>
              <a:srgbClr val="0003FF"/>
            </a:solidFill>
          </p:spPr>
        </p:sp>
        <p:sp>
          <p:nvSpPr>
            <p:cNvPr name="TextBox 7" id="7"/>
            <p:cNvSpPr txBox="true"/>
            <p:nvPr/>
          </p:nvSpPr>
          <p:spPr>
            <a:xfrm>
              <a:off x="0" y="-57150"/>
              <a:ext cx="1756542" cy="1325940"/>
            </a:xfrm>
            <a:prstGeom prst="rect">
              <a:avLst/>
            </a:prstGeom>
          </p:spPr>
          <p:txBody>
            <a:bodyPr anchor="ctr" rtlCol="false" tIns="50800" lIns="50800" bIns="50800" rIns="50800"/>
            <a:lstStyle/>
            <a:p>
              <a:pPr algn="ctr">
                <a:lnSpc>
                  <a:spcPts val="3639"/>
                </a:lnSpc>
              </a:pPr>
            </a:p>
          </p:txBody>
        </p:sp>
      </p:grpSp>
      <p:sp>
        <p:nvSpPr>
          <p:cNvPr name="TextBox 8" id="8"/>
          <p:cNvSpPr txBox="true"/>
          <p:nvPr/>
        </p:nvSpPr>
        <p:spPr>
          <a:xfrm rot="0">
            <a:off x="-1145437" y="1339306"/>
            <a:ext cx="6265091" cy="4832876"/>
          </a:xfrm>
          <a:prstGeom prst="rect">
            <a:avLst/>
          </a:prstGeom>
        </p:spPr>
        <p:txBody>
          <a:bodyPr anchor="t" rtlCol="false" tIns="0" lIns="0" bIns="0" rIns="0">
            <a:spAutoFit/>
          </a:bodyPr>
          <a:lstStyle/>
          <a:p>
            <a:pPr algn="ctr">
              <a:lnSpc>
                <a:spcPts val="35614"/>
              </a:lnSpc>
            </a:pPr>
            <a:r>
              <a:rPr lang="en-US" b="true" sz="37888" spc="-1856">
                <a:solidFill>
                  <a:srgbClr val="EFEFEF"/>
                </a:solidFill>
                <a:latin typeface="TT Hoves Bold"/>
                <a:ea typeface="TT Hoves Bold"/>
                <a:cs typeface="TT Hoves Bold"/>
                <a:sym typeface="TT Hoves Bold"/>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430063" y="1936909"/>
            <a:ext cx="11221859" cy="11221859"/>
          </a:xfrm>
          <a:custGeom>
            <a:avLst/>
            <a:gdLst/>
            <a:ahLst/>
            <a:cxnLst/>
            <a:rect r="r" b="b" t="t" l="l"/>
            <a:pathLst>
              <a:path h="11221859" w="11221859">
                <a:moveTo>
                  <a:pt x="0" y="0"/>
                </a:moveTo>
                <a:lnTo>
                  <a:pt x="11221858" y="0"/>
                </a:lnTo>
                <a:lnTo>
                  <a:pt x="11221858" y="11221858"/>
                </a:lnTo>
                <a:lnTo>
                  <a:pt x="0" y="1122185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450527"/>
            <a:ext cx="19680517" cy="1704491"/>
            <a:chOff x="0" y="0"/>
            <a:chExt cx="5183346" cy="448919"/>
          </a:xfrm>
        </p:grpSpPr>
        <p:sp>
          <p:nvSpPr>
            <p:cNvPr name="Freeform 4" id="4"/>
            <p:cNvSpPr/>
            <p:nvPr/>
          </p:nvSpPr>
          <p:spPr>
            <a:xfrm flipH="false" flipV="false" rot="0">
              <a:off x="0" y="0"/>
              <a:ext cx="5183346" cy="448919"/>
            </a:xfrm>
            <a:custGeom>
              <a:avLst/>
              <a:gdLst/>
              <a:ahLst/>
              <a:cxnLst/>
              <a:rect r="r" b="b" t="t" l="l"/>
              <a:pathLst>
                <a:path h="448919" w="5183346">
                  <a:moveTo>
                    <a:pt x="0" y="0"/>
                  </a:moveTo>
                  <a:lnTo>
                    <a:pt x="5183346" y="0"/>
                  </a:lnTo>
                  <a:lnTo>
                    <a:pt x="5183346" y="448919"/>
                  </a:lnTo>
                  <a:lnTo>
                    <a:pt x="0" y="448919"/>
                  </a:lnTo>
                  <a:close/>
                </a:path>
              </a:pathLst>
            </a:custGeom>
            <a:solidFill>
              <a:srgbClr val="0003FF"/>
            </a:solidFill>
          </p:spPr>
        </p:sp>
        <p:sp>
          <p:nvSpPr>
            <p:cNvPr name="TextBox 5" id="5"/>
            <p:cNvSpPr txBox="true"/>
            <p:nvPr/>
          </p:nvSpPr>
          <p:spPr>
            <a:xfrm>
              <a:off x="0" y="-57150"/>
              <a:ext cx="5183346" cy="506069"/>
            </a:xfrm>
            <a:prstGeom prst="rect">
              <a:avLst/>
            </a:prstGeom>
          </p:spPr>
          <p:txBody>
            <a:bodyPr anchor="ctr" rtlCol="false" tIns="50800" lIns="50800" bIns="50800" rIns="50800"/>
            <a:lstStyle/>
            <a:p>
              <a:pPr algn="ctr">
                <a:lnSpc>
                  <a:spcPts val="3639"/>
                </a:lnSpc>
              </a:pPr>
            </a:p>
          </p:txBody>
        </p:sp>
      </p:grpSp>
      <p:sp>
        <p:nvSpPr>
          <p:cNvPr name="TextBox 6" id="6"/>
          <p:cNvSpPr txBox="true"/>
          <p:nvPr/>
        </p:nvSpPr>
        <p:spPr>
          <a:xfrm rot="0">
            <a:off x="6660790" y="7561835"/>
            <a:ext cx="10598510" cy="1696465"/>
          </a:xfrm>
          <a:prstGeom prst="rect">
            <a:avLst/>
          </a:prstGeom>
        </p:spPr>
        <p:txBody>
          <a:bodyPr anchor="t" rtlCol="false" tIns="0" lIns="0" bIns="0" rIns="0">
            <a:spAutoFit/>
          </a:bodyPr>
          <a:lstStyle/>
          <a:p>
            <a:pPr algn="r">
              <a:lnSpc>
                <a:spcPts val="12501"/>
              </a:lnSpc>
            </a:pPr>
            <a:r>
              <a:rPr lang="en-US" b="true" sz="13299" spc="-651">
                <a:solidFill>
                  <a:srgbClr val="343434"/>
                </a:solidFill>
                <a:latin typeface="TT Hoves Bold"/>
                <a:ea typeface="TT Hoves Bold"/>
                <a:cs typeface="TT Hoves Bold"/>
                <a:sym typeface="TT Hoves Bold"/>
              </a:rPr>
              <a:t>Thank You</a:t>
            </a:r>
          </a:p>
        </p:txBody>
      </p:sp>
      <p:sp>
        <p:nvSpPr>
          <p:cNvPr name="TextBox 7" id="7"/>
          <p:cNvSpPr txBox="true"/>
          <p:nvPr/>
        </p:nvSpPr>
        <p:spPr>
          <a:xfrm rot="0">
            <a:off x="1028700" y="2158523"/>
            <a:ext cx="10598510" cy="4605529"/>
          </a:xfrm>
          <a:prstGeom prst="rect">
            <a:avLst/>
          </a:prstGeom>
        </p:spPr>
        <p:txBody>
          <a:bodyPr anchor="t" rtlCol="false" tIns="0" lIns="0" bIns="0" rIns="0">
            <a:spAutoFit/>
          </a:bodyPr>
          <a:lstStyle/>
          <a:p>
            <a:pPr algn="ctr">
              <a:lnSpc>
                <a:spcPts val="4055"/>
              </a:lnSpc>
              <a:spcBef>
                <a:spcPct val="0"/>
              </a:spcBef>
            </a:pPr>
            <a:r>
              <a:rPr lang="en-US" sz="2599">
                <a:solidFill>
                  <a:srgbClr val="343434"/>
                </a:solidFill>
                <a:latin typeface="TT Hoves"/>
                <a:ea typeface="TT Hoves"/>
                <a:cs typeface="TT Hoves"/>
                <a:sym typeface="TT Hoves"/>
              </a:rPr>
              <a:t>In c</a:t>
            </a:r>
            <a:r>
              <a:rPr lang="en-US" sz="2599">
                <a:solidFill>
                  <a:srgbClr val="343434"/>
                </a:solidFill>
                <a:latin typeface="TT Hoves"/>
                <a:ea typeface="TT Hoves"/>
                <a:cs typeface="TT Hoves"/>
                <a:sym typeface="TT Hoves"/>
              </a:rPr>
              <a:t>onclusion, we successfully implemented a real-time hand gesture recognition system using OpenCV and MediaPipe for gesture detection and ESP32 for hardware control.</a:t>
            </a:r>
          </a:p>
          <a:p>
            <a:pPr algn="ctr">
              <a:lnSpc>
                <a:spcPts val="4055"/>
              </a:lnSpc>
              <a:spcBef>
                <a:spcPct val="0"/>
              </a:spcBef>
            </a:pPr>
            <a:r>
              <a:rPr lang="en-US" sz="2599">
                <a:solidFill>
                  <a:srgbClr val="343434"/>
                </a:solidFill>
                <a:latin typeface="TT Hoves"/>
                <a:ea typeface="TT Hoves"/>
                <a:cs typeface="TT Hoves"/>
                <a:sym typeface="TT Hoves"/>
              </a:rPr>
              <a:t>The system accurately detects finger positions and enables touchless control of LEDs through wireless communication.</a:t>
            </a:r>
          </a:p>
          <a:p>
            <a:pPr algn="ctr">
              <a:lnSpc>
                <a:spcPts val="4055"/>
              </a:lnSpc>
              <a:spcBef>
                <a:spcPct val="0"/>
              </a:spcBef>
            </a:pPr>
            <a:r>
              <a:rPr lang="en-US" sz="2599">
                <a:solidFill>
                  <a:srgbClr val="343434"/>
                </a:solidFill>
                <a:latin typeface="TT Hoves"/>
                <a:ea typeface="TT Hoves"/>
                <a:cs typeface="TT Hoves"/>
                <a:sym typeface="TT Hoves"/>
              </a:rPr>
              <a:t>This project highlights how computer vision and IoT can be combined to create efficient, low-cost, and user-friendly automation systems, with strong potential for future applications.</a:t>
            </a:r>
          </a:p>
          <a:p>
            <a:pPr algn="ctr">
              <a:lnSpc>
                <a:spcPts val="4055"/>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DAHF0lOacM0</dc:identifier>
  <dcterms:modified xsi:type="dcterms:W3CDTF">2011-08-01T06:04:30Z</dcterms:modified>
  <cp:revision>1</cp:revision>
  <dc:title>MCA Project Presentation</dc:title>
</cp:coreProperties>
</file>